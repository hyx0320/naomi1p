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1" r:id="rId8"/>
    <p:sldId id="262" r:id="rId9"/>
    <p:sldId id="263" r:id="rId10"/>
    <p:sldId id="264" r:id="rId11"/>
    <p:sldId id="267" r:id="rId12"/>
    <p:sldId id="268" r:id="rId13"/>
    <p:sldId id="269" r:id="rId14"/>
    <p:sldId id="274" r:id="rId15"/>
    <p:sldId id="271" r:id="rId16"/>
    <p:sldId id="272" r:id="rId17"/>
    <p:sldId id="273" r:id="rId18"/>
  </p:sldIdLst>
  <p:sldSz cx="1219136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4" userDrawn="1">
          <p15:clr>
            <a:srgbClr val="A4A3A4"/>
          </p15:clr>
        </p15:guide>
        <p15:guide id="2" pos="29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4"/>
        <p:guide pos="29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216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2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PSF（点扩散函数） 在轴向（z）的衰减：100 µm 内只降到 73.7%</a:t>
            </a:r>
            <a:endParaRPr sz="12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PSF 轴向累积强度</c:v>
                </c:pt>
              </c:strCache>
            </c:strRef>
          </c:tx>
          <c:spPr>
            <a:ln w="28575" cap="rnd" cmpd="sng" algn="ctr">
              <a:solidFill>
                <a:srgbClr val="1F7A7D"/>
              </a:solidFill>
              <a:prstDash val="solid"/>
              <a:round/>
            </a:ln>
          </c:spPr>
          <c:dLbls>
            <c:delete val="1"/>
          </c:dLbls>
          <c:cat>
            <c:strRef>
              <c:f>Sheet1!$A$2:$A$22</c:f>
              <c:strCache>
                <c:ptCount val="21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99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0.9997</c:v>
                </c:pt>
                <c:pt idx="1">
                  <c:v>1</c:v>
                </c:pt>
                <c:pt idx="2">
                  <c:v>0.9992</c:v>
                </c:pt>
                <c:pt idx="3">
                  <c:v>0.9975</c:v>
                </c:pt>
                <c:pt idx="4">
                  <c:v>0.9946</c:v>
                </c:pt>
                <c:pt idx="5">
                  <c:v>0.9905</c:v>
                </c:pt>
                <c:pt idx="6">
                  <c:v>0.9851</c:v>
                </c:pt>
                <c:pt idx="7">
                  <c:v>0.9785</c:v>
                </c:pt>
                <c:pt idx="8">
                  <c:v>0.9706</c:v>
                </c:pt>
                <c:pt idx="9">
                  <c:v>0.9611</c:v>
                </c:pt>
                <c:pt idx="10">
                  <c:v>0.95</c:v>
                </c:pt>
                <c:pt idx="11">
                  <c:v>0.937</c:v>
                </c:pt>
                <c:pt idx="12">
                  <c:v>0.9219</c:v>
                </c:pt>
                <c:pt idx="13">
                  <c:v>0.9052</c:v>
                </c:pt>
                <c:pt idx="14">
                  <c:v>0.8858</c:v>
                </c:pt>
                <c:pt idx="15">
                  <c:v>0.8645</c:v>
                </c:pt>
                <c:pt idx="16">
                  <c:v>0.841</c:v>
                </c:pt>
                <c:pt idx="17">
                  <c:v>0.8158</c:v>
                </c:pt>
                <c:pt idx="18">
                  <c:v>0.788</c:v>
                </c:pt>
                <c:pt idx="19">
                  <c:v>0.7606</c:v>
                </c:pt>
                <c:pt idx="20">
                  <c:v>0.7372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 rot="0" spcFirstLastPara="0" vertOverflow="ellipsis" vert="horz" wrap="square" anchor="ctr" anchorCtr="1"/>
              <a:lstStyle/>
              <a:p>
                <a:pPr>
                  <a:defRPr lang="zh-CN" sz="1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sz="1000">
                    <a:solidFill>
                      <a:srgbClr val="595959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深度 z（µm）</a:t>
                </a:r>
                <a:endParaRPr sz="10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.05"/>
          <c:min val="0.6"/>
        </c:scaling>
        <c:delete val="0"/>
        <c:axPos val="l"/>
        <c:majorGridlines/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zh-CN" sz="1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sz="1000">
                    <a:solidFill>
                      <a:srgbClr val="595959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相对强度</a:t>
                </a:r>
                <a:endParaRPr sz="1000">
                  <a:solidFill>
                    <a:srgbClr val="595959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d31bd7a5-3ec3-4a0a-b56d-96efaa3d342b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开场：这套代码是 NAOMi 的单光子改造版，能把"虚拟脑组织 + 虚拟显微镜 + 虚拟神经元放电"全流程跑通，产出带完美标准答案的钙成像电影。我今天不是讲"我又跑了一次"，而是讲"这套代码到底在我手里变成了什么样、它的物理边界在哪、以及我怎么用参数去控制数据难度"。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这一页讲动机：不是"我想跑个仿真"，而是"业界缺带标准答案的数据"。我们的产出不是一张图，而是图像+坐标+放电三件套，三者时间空间严格对齐。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讲流程时强调两点：（1）四段之间是串行依赖，第①步最慢；（2）每一步的中间产物都落盘，所以可以只改噪声参数、复用前面的体积，这决定了调参的迭代成本。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这一页是全篇的"事实基线"。所有数字都是从 prams.mat / spikes_opts.mat 里用二进制解析出来的，不是读代码猜的默认值。特别强调 1620 vs 6075 的区别：这是把"散落的历史产物"和"本次运行"区分开的证据链，也体现我们不是跑完就交，而是回头核对了每个数字的出处。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这张图就是"证据"。左半边是理想真值（我们刻意做了百分位拉伸，否则肉眼看不见），右半边是加噪后同区域——胞体几乎被散粒噪声吞掉。数字上：加噪帧均值是纯信号帧的 364–451 倍，单帧活动变化只有噪声的 7%。这解释了为什么下游算法在 1p 数据上召回率普遍很低。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这一页回答"为什么背景这么强"。很多人以为是参数没调好，其实是 1p 的物理本质：没有针孔，就没有轴向选择性。我用 psf.tiff 逐层积分验证：100 µm 内只降到 73.7%，半高宽都大于 100 µm。所以"150µm 体积里所有细胞糊在一起"是物理必然，不是 bug。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这页是"技术可信度"的关键。不要笼统说"我把旧 API 都换了"，而是逐条列：哪一行、换成了什么、为什么这么换。同时主动交代两处不完美（gamrnd 未换、z-score 只用于画图），这比假装全对更能建立信任——因为汇报对象只要抽查一行代码就能发现。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这一页说明：为了做"配置间可比"，我们直接改了源码（有 git 可以回滚）。重点讲 rng(sprev) 那个坑——只注释 shuffle 会导致所有细胞形状一模一样，比原来更难发现。右侧的假旋钮清单是省时间的：调不动的地方别浪费机时。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参数表不用逐行念，只讲结构：0 是基线，1-3 光学，4-5 传感器，6-7 血管，8-10 散射与吸收，11 组合，12-13 帧率。强调"每个配置只动一个参数"，以及 combo 是唯一的多参数组合，用来给出上限。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这页建立判读语言。特别讲右侧那条区分：亮 vs 波动是两个问题，std 投影只反映波动。bg/sig 是最重要的一个数，它把老师口中的"背景波动很大"变成一个可以比较的数。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这页的结论是"负结果"，但很有价值：王老师问"NA 和像素采样有什么差别"，答案是 NA 几乎不影响 —— 因为 PSF 由散射支配（13.8 µm vs 衍射极限 0.7 µm）。想真正提高分辨率必须动散射参数或组织模型，不是动 NA。另外注意 NA0.7 的光学重算要 10.6 小时，成本极高。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这一页把 12 张 std 投影逐张铺开，比原来那张拼合图更清楚：每张都是 750×750 原始分辨率，统一色标 0–3084。讲图顺序：先指 A_base 的弥漫背景 → 指 scat0.5 / scat2 的对比 → 最后指 combo（绿框）：神经元变成一颗颗独立亮点，bg/sig 从 0.63 降到 0.40。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这一页是归因的核心。三条要点：1) 散射是唯一单调、且幅度大的因素（×0.5→0.59，×2→0.85）；2) 读出噪声 sigma_p 从 200 压到 50，bg/sig 一个数字都没动 —— 说明背景波动不是噪声问题，是荧光涨落/散射问题（这也修正了"压低噪声就能让神经元凸显"的直觉）；3) 关掉血管反而更差（0.81）：血管遮挡在"挡光"，去掉它背景更亮。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这页两个数字要一起讲，别只讲一个：maxΔF/F 只涨 3–4%（说明 10 Hz 没明显漏峰），但 bg/sig 恶化 37%、耗时 3.7 倍。所以"帧率越高越好"不成立，要先看钙瞬变的时间尺度。注意 maxΔF/F 是从无噪声的 S.soma 算的，只反映采样，不含噪声。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收尾。核心信息：老师以为问题在"背景波动大"，实测下来是散射 + 信号太暗。压低噪声没用（一个数字都不动），提亮信号最有效（−44%）；帧率 10 Hz 已经够用。下一步 P0 只要 2 分钟就能把 combo 的归因钉死，建议现场就补。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7.xml"/><Relationship Id="rId2" Type="http://schemas.openxmlformats.org/officeDocument/2006/relationships/tags" Target="../tags/tag13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9.png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5" Type="http://schemas.openxmlformats.org/officeDocument/2006/relationships/notesSlide" Target="../notesSlides/notesSlide12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14.png"/><Relationship Id="rId12" Type="http://schemas.openxmlformats.org/officeDocument/2006/relationships/image" Target="../media/image13.png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1" Type="http://schemas.openxmlformats.org/officeDocument/2006/relationships/tags" Target="../tags/tag20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4.xml"/><Relationship Id="rId7" Type="http://schemas.openxmlformats.org/officeDocument/2006/relationships/slideLayout" Target="../slideLayouts/slideLayout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918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9DC3E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NAOMi1p · 单光子宽场钙成像仿真器</a:t>
            </a:r>
            <a:endParaRPr sz="1400" b="1">
              <a:solidFill>
                <a:srgbClr val="9DC3E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虚拟脑组织钙成像数据生成</a:t>
            </a:r>
            <a:endParaRPr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0">
                <a:solidFill>
                  <a:srgbClr val="C9D8E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调参实验：光学参数 · 背景波动 · 帧率</a:t>
            </a:r>
            <a:endParaRPr sz="2600" b="0">
              <a:solidFill>
                <a:srgbClr val="C9D8E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4251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运行目录：D:\MesoTwins\NAOMi1p_output\w_dend\res_0.80\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vol_600_150_NA_0.35_Hz_10_exp_5_d_30k_pw_0.50\1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检查手段：TIFF 头解析 · MATLAB v7 参数文件解析 · 逐帧统计 · 代码全量 grep 溯源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9999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汇报人：__________</a:t>
            </a:r>
            <a:endParaRPr sz="1200" b="0">
              <a:solidFill>
                <a:srgbClr val="99999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1 · 项目概览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为什么需要"计算机里养出来的"钙成像数据？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394960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痛点</a:t>
            </a:r>
            <a:endParaRPr sz="160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847088"/>
            <a:ext cx="5394960" cy="1799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训练神经元分割模型需要大量带像素级答案的数据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真实实验拿不到 Ground Truth：只能靠人工标注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人工标注慢、不可复现、且不同标注员不一致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深层 1p 数据噪声极大，人眼都难对齐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09360" y="1481328"/>
            <a:ext cx="5394960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本项目的解法</a:t>
            </a:r>
            <a:endParaRPr sz="160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0" y="1847088"/>
            <a:ext cx="5394960" cy="1799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用物理仿真"长"出一块脑组织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每个神经元的 3D 坐标 / 形状 / 放电时刻全部已知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光学传播 + 相机噪声全流程模拟，产出逼真 TIFF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真值 100% 准确 → 可当作算法的"性能上限"基准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66928" y="3611880"/>
            <a:ext cx="1106424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76732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我们的交付物：三件东西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1"/>
            </p:custDataLst>
          </p:nvPr>
        </p:nvSpPr>
        <p:spPr>
          <a:xfrm>
            <a:off x="566928" y="4206240"/>
            <a:ext cx="342900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7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2"/>
            </p:custDataLst>
          </p:nvPr>
        </p:nvSpPr>
        <p:spPr>
          <a:xfrm>
            <a:off x="768096" y="4343400"/>
            <a:ext cx="3017520" cy="4375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图像</a:t>
            </a:r>
            <a:endParaRPr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3"/>
            </p:custDataLst>
          </p:nvPr>
        </p:nvSpPr>
        <p:spPr>
          <a:xfrm>
            <a:off x="768096" y="46177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mov_w_bg.tiff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4"/>
            </p:custDataLst>
          </p:nvPr>
        </p:nvSpPr>
        <p:spPr>
          <a:xfrm>
            <a:off x="768096" y="5029200"/>
            <a:ext cx="3017520" cy="7308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1000 帧 × 750×750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16-bit 钙成像电影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>
            <p:custDataLst>
              <p:tags r:id="rId5"/>
            </p:custDataLst>
          </p:nvPr>
        </p:nvSpPr>
        <p:spPr>
          <a:xfrm>
            <a:off x="4315968" y="4206240"/>
            <a:ext cx="342900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6"/>
            </p:custDataLst>
          </p:nvPr>
        </p:nvSpPr>
        <p:spPr>
          <a:xfrm>
            <a:off x="4517136" y="4343400"/>
            <a:ext cx="3017520" cy="4375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坐标</a:t>
            </a:r>
            <a:endParaRPr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7"/>
            </p:custDataLst>
          </p:nvPr>
        </p:nvSpPr>
        <p:spPr>
          <a:xfrm>
            <a:off x="4517136" y="46177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vol_out.locs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8"/>
            </p:custDataLst>
          </p:nvPr>
        </p:nvSpPr>
        <p:spPr>
          <a:xfrm>
            <a:off x="4517136" y="5029200"/>
            <a:ext cx="3017520" cy="7308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1620 个神经元</a:t>
            </a:r>
            <a:endParaRPr sz="1600" b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精确 3D 位置（µm）</a:t>
            </a:r>
            <a:endParaRPr sz="1600" b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>
            <p:custDataLst>
              <p:tags r:id="rId9"/>
            </p:custDataLst>
          </p:nvPr>
        </p:nvSpPr>
        <p:spPr>
          <a:xfrm>
            <a:off x="8065007" y="4206240"/>
            <a:ext cx="342900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>
            <p:custDataLst>
              <p:tags r:id="rId10"/>
            </p:custDataLst>
          </p:nvPr>
        </p:nvSpPr>
        <p:spPr>
          <a:xfrm>
            <a:off x="8266175" y="4343400"/>
            <a:ext cx="3017520" cy="4375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放电</a:t>
            </a:r>
            <a:endParaRPr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11"/>
            </p:custDataLst>
          </p:nvPr>
        </p:nvSpPr>
        <p:spPr>
          <a:xfrm>
            <a:off x="8266175" y="46177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spikes.mat</a:t>
            </a:r>
            <a:endParaRPr sz="15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12"/>
            </p:custDataLst>
          </p:nvPr>
        </p:nvSpPr>
        <p:spPr>
          <a:xfrm>
            <a:off x="8266175" y="5029200"/>
            <a:ext cx="3017520" cy="7308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每个细胞的真实</a:t>
            </a:r>
            <a:endParaRPr sz="1600" b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放电时刻（时间真值）</a:t>
            </a:r>
            <a:endParaRPr sz="1600" b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66928" y="6144768"/>
            <a:ext cx="10332720" cy="475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⚠ 这三者构成"图像 ↔ 坐标 ↔ 时间"的完整监督信号，正是深度模型训练的稀缺资源。</a:t>
            </a:r>
            <a:endParaRPr sz="200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1 · 项目概览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四段式生成流水线：从血管到电影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4048" y="1463040"/>
            <a:ext cx="2697480" cy="566928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1554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结构生成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84048" y="2029968"/>
            <a:ext cx="2697480" cy="2697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2121408"/>
            <a:ext cx="2468880" cy="321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VolumeCode\</a:t>
            </a:r>
            <a:endParaRPr sz="120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12064" y="2395728"/>
            <a:ext cx="2468880" cy="13296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血管网络 Dijkstra 生长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神经元位置采样 + 高斯过程变形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树突 / 顶树突 / 轴突 / 背景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12064" y="3858768"/>
            <a:ext cx="2468880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simulate_neural_volume.m</a:t>
            </a:r>
            <a:endParaRPr sz="12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2064" y="4370832"/>
            <a:ext cx="2468880" cy="36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~70% 耗时</a:t>
            </a:r>
            <a:endParaRPr sz="140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99816" y="2651760"/>
            <a:ext cx="228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BFB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▶</a:t>
            </a:r>
            <a:endParaRPr sz="1300" b="1">
              <a:solidFill>
                <a:srgbClr val="BFB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73552" y="1463040"/>
            <a:ext cx="2697480" cy="5669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554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光学传播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186430" y="2026920"/>
            <a:ext cx="2898775" cy="3489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2121408"/>
            <a:ext cx="2468880" cy="321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OpticsCode\</a:t>
            </a:r>
            <a:endParaRPr sz="12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181350" y="2395855"/>
            <a:ext cx="2899410" cy="312547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lang="zh-CN" altLang="en-US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第一，真实的玻璃镜片都有畸变，我们引入了 </a:t>
            </a:r>
            <a:r>
              <a:rPr lang="en-US" altLang="zh-CN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Zernike</a:t>
            </a:r>
            <a:r>
              <a:rPr lang="zh-CN" altLang="en-US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像差 来模拟这种变形。</a:t>
            </a:r>
            <a:endParaRPr lang="zh-CN" altLang="en-US"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lang="zh-CN" altLang="en-US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第二，脑组织不是透明的，里面充满了细胞和水分。光穿过去的时候会发生 菲涅耳衍射（也就是散射），越深越模糊。</a:t>
            </a:r>
            <a:endParaRPr lang="zh-CN" altLang="en-US"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lang="zh-CN" altLang="en-US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第三，脑组织里到处都是血管，血红蛋白是会吸光的。所以我们生成了 血管掩膜（</a:t>
            </a:r>
            <a:r>
              <a:rPr lang="en-US" altLang="zh-CN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Mask），</a:t>
            </a:r>
            <a:r>
              <a:rPr lang="zh-CN" altLang="en-US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把血管挡光的效果做进去。</a:t>
            </a:r>
            <a:endParaRPr lang="en-US" altLang="zh-CN"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lang="zh-CN" altLang="en-US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这三个步骤加在一起，就得到了</a:t>
            </a:r>
            <a:r>
              <a:rPr lang="en-US" altLang="zh-CN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PSF（</a:t>
            </a:r>
            <a:r>
              <a:rPr lang="zh-CN" altLang="en-US"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点扩散函数）。 它代表了光在穿过这个复杂的脑子后，原本一个清晰的小点，到底变得有多糊、多暗、被血管挡了多少。</a:t>
            </a:r>
            <a:endParaRPr lang="zh-CN" altLang="en-US"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36008" y="1559687"/>
            <a:ext cx="2468880" cy="36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最快</a:t>
            </a:r>
            <a:endParaRPr sz="1400" b="1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89320" y="2651760"/>
            <a:ext cx="228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BFB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▶</a:t>
            </a:r>
            <a:endParaRPr sz="1300" b="1">
              <a:solidFill>
                <a:srgbClr val="BFB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163056" y="1463040"/>
            <a:ext cx="2697480" cy="566928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2784" y="1554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信号注入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163056" y="2029968"/>
            <a:ext cx="2697480" cy="2697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1072" y="2121408"/>
            <a:ext cx="2468880" cy="321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TimeTraceCode\</a:t>
            </a:r>
            <a:endParaRPr sz="1200" b="1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91072" y="2395728"/>
            <a:ext cx="2468880" cy="13296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Hawkes 过程生成相关放电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双指数钙动力学卷积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拆成 soma/dend/bg 三类信号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91072" y="3858768"/>
            <a:ext cx="2468880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fun_time_trace_generation.m</a:t>
            </a:r>
            <a:endParaRPr sz="12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291072" y="4370832"/>
            <a:ext cx="2468880" cy="36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中等</a:t>
            </a:r>
            <a:endParaRPr sz="1400" b="1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BFBFB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▶</a:t>
            </a:r>
            <a:endParaRPr sz="1300" b="1">
              <a:solidFill>
                <a:srgbClr val="BFBFB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9052560" y="1463040"/>
            <a:ext cx="2697480" cy="56692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62288" y="1554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扫描成像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9052560" y="2029968"/>
            <a:ext cx="2697480" cy="2697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0576" y="2121408"/>
            <a:ext cx="2468880" cy="321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ScanningCode\</a:t>
            </a:r>
            <a:endParaRPr sz="120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180576" y="2395728"/>
            <a:ext cx="2468880" cy="1039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逐帧 PSF 卷积扫描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血管搏动调制 + 运动伪影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泊松-高斯相机噪声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180576" y="3858768"/>
            <a:ext cx="2468880" cy="303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scan_volume_1p.m</a:t>
            </a:r>
            <a:endParaRPr sz="1200" b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180576" y="4370832"/>
            <a:ext cx="2468880" cy="36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~30% 耗时</a:t>
            </a:r>
            <a:endParaRPr sz="140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66928" y="5963920"/>
            <a:ext cx="11064240" cy="8915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⚠ 关键设计：第 ① 步产物 vol_out.mat（670 MB）是后续所有步骤的唯一依据 —— 保留它就能跳过最慢的结构生成，单独重跑光学/信号/成像。</a:t>
            </a:r>
            <a:endParaRPr sz="200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2 · 数据事实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607040" cy="6102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本次运行的"身份档案"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7055" y="1305560"/>
          <a:ext cx="11064240" cy="5988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937760"/>
                <a:gridCol w="3840480"/>
              </a:tblGrid>
              <a:tr h="441960">
                <a:tc>
                  <a:txBody>
                    <a:bodyPr wrap="square"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项目</a:t>
                      </a:r>
                      <a:endParaRPr sz="2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实测值</a:t>
                      </a:r>
                      <a:endParaRPr sz="2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证据来源</a:t>
                      </a:r>
                      <a:endParaRPr sz="24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1F3864"/>
                    </a:solidFill>
                  </a:tcPr>
                </a:tc>
              </a:tr>
              <a:tr h="442595"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视野 / 体素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600 × 600 × 150 µm  @ 1 µm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prams.mat → vol_params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843915"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神经元数 N_neur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1620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prams.mat → vol_params.N_neur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</a:tr>
              <a:tr h="843915"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荧光成分总数 K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5662  =1620 胞体 + 720 树突 + 3322 背景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spikes_opts.mat → K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1245235"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时间长度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1100 帧 @ 10 Hz，丢弃前 100 帧 → 存 1000 帧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spikes_opts.nt = 11000（100 Hz 粒度</a:t>
                      </a:r>
                      <a:r>
                        <a:rPr lang="zh-CN"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，计算放电轨迹</a:t>
                      </a:r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成像像素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750 × 750 px  @ 0.8 µm/px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600 µm ÷ 0.8 µm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843915"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蛋白 / 动力学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GCaMP6 / Ca_DE / smod_flag = other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spikes_opts.mat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</a:tr>
              <a:tr h="442595"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放电率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1e-3，自激发 selfact = 1.2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4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spikes_opts.mat</a:t>
                      </a:r>
                      <a:endParaRPr sz="24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3 · 数据体检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实测：信号被噪声和背景淹没约 364 倍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" name="Picture 5" descr="img_zoom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903720" cy="34092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9204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◀ 无噪声真值（对比度拉伸）</a:t>
            </a:r>
            <a:endParaRPr sz="100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86200" y="48920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加噪后同区域 ▶（同样拉伸）</a:t>
            </a:r>
            <a:endParaRPr sz="100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99375" y="687705"/>
            <a:ext cx="4326255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逐帧实测（帧 1 / 250 / 500 / 750 / 1000）</a:t>
            </a:r>
            <a:endParaRPr sz="16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7726680" y="1275715"/>
          <a:ext cx="4270375" cy="3783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9940"/>
                <a:gridCol w="2210435"/>
              </a:tblGrid>
              <a:tr h="38735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数值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1F3864"/>
                    </a:solidFill>
                  </a:tcPr>
                </a:tc>
              </a:tr>
              <a:tr h="38735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加噪帧 mean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2862 → 3250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7985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加噪帧 std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517 → 596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</a:tr>
              <a:tr h="38735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纯信号帧 mean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6.9 → 8.0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735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纯信号帧 max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140 → 283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</a:tr>
              <a:tr h="7289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背景+噪声</a:t>
                      </a:r>
                      <a:r>
                        <a:rPr lang="en-US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/ </a:t>
                      </a:r>
                      <a:r>
                        <a:rPr sz="180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信号</a:t>
                      </a:r>
                      <a:endParaRPr lang="en-US"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B31B1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364 – 451 倍</a:t>
                      </a:r>
                      <a:endParaRPr sz="1800" b="1">
                        <a:solidFill>
                          <a:srgbClr val="B31B1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7985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动态范围占用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8.6%（无饱和）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</a:tr>
              <a:tr h="72898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单帧活动变化 / 噪声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B31B1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≈ 7%</a:t>
                      </a:r>
                      <a:endParaRPr sz="1800" b="1">
                        <a:solidFill>
                          <a:srgbClr val="B31B1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3180" y="5233035"/>
            <a:ext cx="12148185" cy="1624965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45" y="5174615"/>
            <a:ext cx="12162155" cy="169799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lang="zh-CN" altLang="en-US" sz="2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传统信噪比算出来只有 0.0024，噪声比信号亮了 400 多倍。</a:t>
            </a:r>
            <a:endParaRPr lang="zh-CN" altLang="en-US" sz="2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lang="zh-CN" altLang="en-US" sz="20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而且在代码的底层体检报告里，我还计算了‘单帧活动变化/噪声’，只有 7%。在单帧画面里，神经元闪烁的变化量，只占噪声波动的 7%。这意味着，如果只用传统的单帧空间检测算法，或者靠人工去看，是绝对不可能找出来的。</a:t>
            </a:r>
            <a:endParaRPr lang="zh-CN" altLang="en-US" sz="20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3 · 数据体检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物理死结：1p 宽场根本没有"光学切片"能力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-127" y="1257300"/>
          <a:ext cx="676656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1225550"/>
            <a:ext cx="4023360" cy="475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这意味着什么</a:t>
            </a:r>
            <a:endParaRPr sz="20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766560" y="1719580"/>
            <a:ext cx="5299075" cy="272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indent="-457200" algn="l" fontAlgn="auto">
              <a:lnSpc>
                <a:spcPct val="140000"/>
              </a:lnSpc>
              <a:spcAft>
                <a:spcPts val="600"/>
              </a:spcAft>
              <a:extLst>
                <a:ext uri="{35155182-B16C-46BC-9424-99874614C6A1}">
                  <wpsdc:indentchars xmlns:wpsdc="http://www.wps.cn/officeDocument/2017/drawingmlCustomData" val="-200" checksum="932098519"/>
                </a:ext>
              </a:extLs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150 µm 厚度内的全部 1620 个细胞，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-457200" algn="l" fontAlgn="auto">
              <a:lnSpc>
                <a:spcPct val="140000"/>
              </a:lnSpc>
              <a:spcAft>
                <a:spcPts val="600"/>
              </a:spcAft>
              <a:extLst>
                <a:ext uri="{35155182-B16C-46BC-9424-99874614C6A1}">
                  <wpsdc:indentchars xmlns:wpsdc="http://www.wps.cn/officeDocument/2017/drawingmlCustomData" val="-200" checksum="932098519"/>
                </a:ext>
              </a:extLs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都会叠加进同一帧图像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-457200" algn="l" fontAlgn="auto">
              <a:lnSpc>
                <a:spcPct val="140000"/>
              </a:lnSpc>
              <a:spcAft>
                <a:spcPts val="600"/>
              </a:spcAft>
              <a:extLst>
                <a:ext uri="{35155182-B16C-46BC-9424-99874614C6A1}">
                  <wpsdc:indentchars xmlns:wpsdc="http://www.wps.cn/officeDocument/2017/drawingmlCustomData" val="-200" checksum="932098519"/>
                </a:ext>
              </a:extLs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横向光斑约 8–18 µm，远宽于衍射极限</a:t>
            </a:r>
            <a:r>
              <a:rPr lang="zh-CN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zh-CN" altLang="en-US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横向光</a:t>
            </a:r>
            <a:r>
              <a:rPr lang="en-US" altLang="zh-CN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</a:t>
            </a:r>
            <a:r>
              <a:rPr lang="zh-CN" altLang="en-US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斑变宽（</a:t>
            </a:r>
            <a:r>
              <a:rPr lang="en-US" altLang="zh-CN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X/Y</a:t>
            </a:r>
            <a:r>
              <a:rPr lang="zh-CN" altLang="en-US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轴）</a:t>
            </a:r>
            <a:r>
              <a:rPr lang="zh-CN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）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-457200" algn="l" fontAlgn="auto">
              <a:lnSpc>
                <a:spcPct val="140000"/>
              </a:lnSpc>
              <a:spcAft>
                <a:spcPts val="600"/>
              </a:spcAft>
              <a:extLst>
                <a:ext uri="{35155182-B16C-46BC-9424-99874614C6A1}">
                  <wpsdc:indentchars xmlns:wpsdc="http://www.wps.cn/officeDocument/2017/drawingmlCustomData" val="-200" checksum="932098519"/>
                </a:ext>
              </a:extLs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没有 z 层选择 → 背景污染无从回避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-457200" algn="l" fontAlgn="auto">
              <a:lnSpc>
                <a:spcPct val="140000"/>
              </a:lnSpc>
              <a:spcAft>
                <a:spcPts val="600"/>
              </a:spcAft>
              <a:extLst>
                <a:ext uri="{35155182-B16C-46BC-9424-99874614C6A1}">
                  <wpsdc:indentchars xmlns:wpsdc="http://www.wps.cn/officeDocument/2017/drawingmlCustomData" val="-200" checksum="932098519"/>
                </a:ext>
              </a:extLs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这解释了 364 倍的信号淹没比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-635" y="4562475"/>
            <a:ext cx="6102985" cy="21304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6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有光学切片能力（如双光子 2</a:t>
            </a:r>
            <a:r>
              <a:rPr lang="en-US" altLang="zh-CN" sz="16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 </a:t>
            </a:r>
            <a:r>
              <a:rPr lang="zh-CN" altLang="en-US" sz="16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显微镜）：</a:t>
            </a:r>
            <a:endParaRPr lang="zh-CN" altLang="en-US" sz="16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得益于非线性激发机制，2</a:t>
            </a:r>
            <a:r>
              <a:rPr lang="en-US" altLang="zh-CN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 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显微镜具备卓越的光学层析能力</a:t>
            </a:r>
            <a:r>
              <a:rPr lang="en-US" altLang="zh-CN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如同一把无形的“光刀”，其激发体积被严格限制在焦平面内，能有效抑制焦外荧光污染（</a:t>
            </a:r>
            <a:r>
              <a:rPr lang="en-US" altLang="zh-CN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Rejection of out-of-focus background），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从而获得极高的轴向分辨率与干净锐利的图像。</a:t>
            </a:r>
            <a:r>
              <a:rPr lang="zh-CN" altLang="en-US" sz="16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</a:t>
            </a:r>
            <a:r>
              <a:rPr lang="zh-CN" altLang="en-US" sz="16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只有焦平面上的那一层细胞会发光，上下层的细胞完全暗掉。）</a:t>
            </a:r>
            <a:endParaRPr lang="zh-CN" altLang="en-US" sz="16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endParaRPr lang="zh-CN" altLang="en-US" sz="16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095365" y="14605"/>
            <a:ext cx="6096000" cy="7308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数据来源：psf.tiff（100 层 × 36×36），逐层对全像素求和后归一化 —— 与代码 widthestimate3D.m 的定义一致。</a:t>
            </a:r>
            <a:endParaRPr lang="zh-CN" altLang="en-US" sz="16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5" name="TextBox 11"/>
          <p:cNvSpPr txBox="1"/>
          <p:nvPr/>
        </p:nvSpPr>
        <p:spPr>
          <a:xfrm>
            <a:off x="6229350" y="4533265"/>
            <a:ext cx="5962650" cy="229489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zh-CN" altLang="en-US" sz="1600" b="1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缺乏光学切片能力（如单光子 1</a:t>
            </a:r>
            <a:r>
              <a:rPr lang="en-US" altLang="zh-CN" sz="1600" b="1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 </a:t>
            </a:r>
            <a:r>
              <a:rPr lang="zh-CN" altLang="en-US" sz="1600" b="1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宽场显微镜，本仿真对象）：</a:t>
            </a:r>
            <a:endParaRPr lang="zh-CN" altLang="en-US" sz="1600" b="1">
              <a:solidFill>
                <a:srgbClr val="7030A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1p 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成像因线性吸收特性，丧失了轴向选择性。如同将三维样本置于全景强光下，全视场深度（</a:t>
            </a:r>
            <a:r>
              <a:rPr lang="en-US" altLang="zh-CN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Z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轴）内的所有荧光团均被无差别激发。150</a:t>
            </a:r>
            <a:r>
              <a:rPr lang="en-US" altLang="zh-CN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μm 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厚度内的离焦信号与目标信号在探测器上发生严重空间重叠（</a:t>
            </a:r>
            <a:r>
              <a:rPr lang="en-US" altLang="zh-CN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Spatial overlap），</a:t>
            </a:r>
            <a:r>
              <a:rPr lang="zh-CN" altLang="en-US" sz="16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最终导致图像对比度断崖式下降，呈现严重的弥漫性污染。</a:t>
            </a:r>
            <a:r>
              <a:rPr lang="zh-CN" altLang="en-US" sz="1600" b="1">
                <a:solidFill>
                  <a:srgbClr val="7030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（不仅中间那层发光，上面、下面所有层的细胞和血管全都在发光，所有光线重叠在一起。）</a:t>
            </a:r>
            <a:endParaRPr lang="zh-CN" altLang="en-US" sz="16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4 · 工程改造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代码适配清单：做了什么，以及没做什么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" y="1261110"/>
          <a:ext cx="6418580" cy="5597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5965"/>
                <a:gridCol w="2557145"/>
                <a:gridCol w="1855470"/>
              </a:tblGrid>
              <a:tr h="887095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✔ 已完成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377E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位置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377E2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做法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377E22"/>
                    </a:solidFill>
                  </a:tcPr>
                </a:tc>
              </a:tr>
              <a:tr h="94170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poissrnd → randn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PoissonGaussNoiseModel_camera.m:12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用正态近似泊松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normrnd → randn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PoissonGaussNoiseModel_camera.m:17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基础 randn 重构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</a:tr>
              <a:tr h="94170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mvnrnd → 基础函数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generateNeuralBody.m:103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避免统计工具箱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9423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树突重复索引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growNeuronDendrites.m:345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unique + accumarray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2F2F2"/>
                    </a:solidFill>
                  </a:tcPr>
                </a:tc>
              </a:tr>
              <a:tr h="941705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扫描变量拼写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scan_volume_1p.m:454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y_off / scan_buff 修正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61150" y="1267460"/>
            <a:ext cx="5530215" cy="5619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改造的依据是"跑不通"，不是"看起来旧"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• 报错 → 定位到具体缺失函数 → 用等价数学式替换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• 替换后做数值一致性验证（分布均值/方差对得上）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区分"主路径"与"旁路"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• gamrnd 残留只在 Hawkes 分支，本次配置不执行，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所以不阻塞交付 —— 但若切换 smod_flag 就会崩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严格区分"可视化"与"数据本体"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• 图上标 z-scored 属实，但 S.mat 里是原始值；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若下游按 z-score 假设处理，会系统性偏差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不掩盖：所有未替换项都写进交接文档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4 · 工程改造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为了让配置间可比，先修掉两个源码 bug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377E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已修复（直接改在源码，git 可回滚）</a:t>
            </a:r>
            <a:endParaRPr sz="1250" b="1">
              <a:solidFill>
                <a:srgbClr val="377E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35" y="1717675"/>
          <a:ext cx="6098540" cy="374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19350"/>
                <a:gridCol w="2066290"/>
              </a:tblGrid>
              <a:tr h="124904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问题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377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位置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377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影响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377E22"/>
                    </a:solidFill>
                  </a:tcPr>
                </a:tc>
              </a:tr>
              <a:tr h="1249045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rng('shuffle') 按时间重播种</a:t>
                      </a:r>
                      <a:endParaRPr sz="1600" b="1">
                        <a:solidFill>
                          <a:srgbClr val="377E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MiscCode/masked_3DGP_v2.m（2 处）
masked_3DGP_test.m（1 处）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每次运行的脑组织/散射介质都不同
→ 配置之间无法对比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1249045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单点路径 accumarray 崩</a:t>
                      </a:r>
                      <a:endParaRPr sz="1600" b="1">
                        <a:solidFill>
                          <a:srgbClr val="377E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VolumeCode/growNeuronDendrites.m:343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路径只含 1 个节点时
pathW 长度 2 vs ic 长度 1 → 报错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-127" y="5412613"/>
            <a:ext cx="5532120" cy="14452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关键：只注释 rng('shuffle') 不够 —— 必须同时删掉配对的 rng(sprev)，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否则随机流被复位，每次调用都抽到同一组随机数（更隐蔽的 bug）。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55080" y="1275715"/>
            <a:ext cx="5257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调参时要注意的"假旋钮"（改了没用）</a:t>
            </a:r>
            <a:endParaRPr sz="125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55080" y="1586865"/>
          <a:ext cx="5836920" cy="3968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8495"/>
                <a:gridCol w="3908425"/>
              </a:tblGrid>
              <a:tr h="37211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参数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状态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C55A11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wdm_params.qe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全库无人读取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noise_params.sigma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噪声模型只用 gamma/offset/sigma_p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psf_params.blur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全库无人读取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96774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spike_opts.smod_flag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被 fun_time_trace_generation 硬编码覆盖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65722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start_Nt = 100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scan_volume_1p:69 硬编码丢弃前 100 帧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52820" y="5433060"/>
            <a:ext cx="6113780" cy="14909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踩坑代价：曾把 start_Nt 当成可调帧数，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 50 帧 → 输出 0 帧，白跑一轮。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调参前先确认真旋钮：psf_params.* / noise_params.sigma_p /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vessel_mod.* / exp_level / pixel_size。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480693" y="-127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参数矩阵：13 个配置，每个只动一个东西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0" y="523875"/>
          <a:ext cx="12191365" cy="63341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545"/>
                <a:gridCol w="2548890"/>
                <a:gridCol w="2686050"/>
                <a:gridCol w="1680845"/>
                <a:gridCol w="1207135"/>
                <a:gridCol w="3644900"/>
              </a:tblGrid>
              <a:tr h="3175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#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配置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改的参数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当前 → 新值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所属环节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想验证什么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A_base</a:t>
                      </a:r>
                      <a:endParaRPr sz="18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基线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参考运行（原版代码）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NA0.5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psf_params.NA / objNA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0.35 → 0.50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光学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光斑变窄，细胞是否更可分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NA0.7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psf_params.NA / objNA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0.35 → 0.70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光学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B0F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同上，看趋势</a:t>
                      </a:r>
                      <a:endParaRPr sz="1800" b="0">
                        <a:solidFill>
                          <a:srgbClr val="00B0F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59753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px1.6</a:t>
                      </a:r>
                      <a:r>
                        <a:rPr lang="zh-CN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（与分辨率</a:t>
                      </a:r>
                      <a:r>
                        <a:rPr lang="zh-CN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成反比）</a:t>
                      </a:r>
                      <a:endParaRPr lang="zh-CN"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pixel_size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 → 1.6 µm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光学/采样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像素数 1/4 的代价（SNR↑ 分辨↓）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sig100</a:t>
                      </a:r>
                      <a:r>
                        <a:rPr lang="zh-CN"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zh-CN"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底噪）</a:t>
                      </a:r>
                      <a:endParaRPr lang="zh-CN"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noise_params.sigma_p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200 → 100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传感器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读出噪声减半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sig50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noise_params.sigma_p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200 → 50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传感器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极限压低，看神经元是否凸显</a:t>
                      </a:r>
                      <a:endParaRPr sz="1800" b="0">
                        <a:solidFill>
                          <a:schemeClr val="accent6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81153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vd2</a:t>
                      </a:r>
                      <a:r>
                        <a:rPr lang="zh-CN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血管膨胀收缩的幅度变小</a:t>
                      </a:r>
                      <a:r>
                        <a:rPr lang="zh-CN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vessel_mod.max_dilate_amp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 → 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血管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搏动调制减弱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</a:t>
                      </a:r>
                      <a:endParaRPr sz="1800" b="0">
                        <a:solidFill>
                          <a:srgbClr val="7030A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vd0</a:t>
                      </a:r>
                      <a:r>
                        <a:rPr lang="zh-CN"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彻底关掉心跳</a:t>
                      </a:r>
                      <a:r>
                        <a:rPr lang="zh-CN"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sz="1800" b="0">
                        <a:solidFill>
                          <a:srgbClr val="7030A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vessel_mod.flag</a:t>
                      </a:r>
                      <a:endParaRPr sz="1800" b="0">
                        <a:solidFill>
                          <a:srgbClr val="7030A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true → false</a:t>
                      </a:r>
                      <a:endParaRPr sz="1800" b="0">
                        <a:solidFill>
                          <a:srgbClr val="7030A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血管</a:t>
                      </a:r>
                      <a:endParaRPr sz="1800" b="0">
                        <a:solidFill>
                          <a:srgbClr val="7030A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7030A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完全关闭搏动（上限对照）</a:t>
                      </a:r>
                      <a:endParaRPr sz="1800" b="0">
                        <a:solidFill>
                          <a:srgbClr val="7030A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scat0.5</a:t>
                      </a:r>
                      <a:r>
                        <a:rPr lang="zh-CN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散射权重</a:t>
                      </a:r>
                      <a:r>
                        <a:rPr lang="zh-CN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psf_params.scatter_wt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×0.5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散射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弥漫背景是否减半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9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scat2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psf_params.scatter_wt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散射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反向对照（应更差）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59753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70C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</a:t>
                      </a:r>
                      <a:endParaRPr sz="1800" b="0">
                        <a:solidFill>
                          <a:srgbClr val="0070C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70C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hemo0</a:t>
                      </a:r>
                      <a:r>
                        <a:rPr lang="zh-CN" sz="1800" b="0">
                          <a:solidFill>
                            <a:srgbClr val="0070C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rgbClr val="0070C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血红蛋白吸收系数，归零）</a:t>
                      </a:r>
                      <a:endParaRPr lang="zh-CN" altLang="en-US" sz="1800" b="0">
                        <a:solidFill>
                          <a:srgbClr val="0070C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70C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psf_params.hemoabs</a:t>
                      </a:r>
                      <a:endParaRPr sz="1800" b="0">
                        <a:solidFill>
                          <a:srgbClr val="0070C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70C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×0（归零）</a:t>
                      </a:r>
                      <a:endParaRPr sz="1800" b="0">
                        <a:solidFill>
                          <a:srgbClr val="0070C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70C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吸收</a:t>
                      </a:r>
                      <a:endParaRPr sz="1800" b="0">
                        <a:solidFill>
                          <a:srgbClr val="0070C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0070C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血管黑阴影是否消失</a:t>
                      </a:r>
                      <a:endParaRPr sz="1800" b="0">
                        <a:solidFill>
                          <a:srgbClr val="0070C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59753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11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combo</a:t>
                      </a:r>
                      <a:endParaRPr lang="zh-CN"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搏动2+sigma100+散射0.5+exp15</a:t>
                      </a:r>
                      <a:r>
                        <a:rPr lang="zh-CN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zh-CN"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提亮度）</a:t>
                      </a:r>
                      <a:endParaRPr lang="zh-CN"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组合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全部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最好能做到什么程度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fr10r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frate（重生成S）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 Hz，300 帧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帧率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等时长基线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13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fr30r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frate（重生成S）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Hz，900 帧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帧率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是否抓到被欠采样削掉的峰</a:t>
                      </a:r>
                      <a:endParaRPr sz="1800" b="0">
                        <a:solidFill>
                          <a:schemeClr val="accent6">
                            <a:lumMod val="50000"/>
                          </a:schemeClr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5 · 本次实验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判读标准：6 个指标，各自回答一个问题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5" y="1206500"/>
          <a:ext cx="12191365" cy="366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0675"/>
                <a:gridCol w="3488690"/>
                <a:gridCol w="1394460"/>
                <a:gridCol w="3177540"/>
              </a:tblGrid>
              <a:tr h="4794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定义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方向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回答什么问题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1F3864"/>
                    </a:solidFill>
                  </a:tcPr>
                </a:tc>
              </a:tr>
              <a:tr h="63627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bg/sig（背景/信号比）</a:t>
                      </a:r>
                      <a:endParaRPr sz="18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背景区时间 std 中位数 ÷ 信号区时间 std 中位数</a:t>
                      </a:r>
                      <a:endParaRPr sz="18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越小越好</a:t>
                      </a:r>
                      <a:endParaRPr sz="18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背景波动有多强</a:t>
                      </a:r>
                      <a:endParaRPr sz="18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std 对比度</a:t>
                      </a:r>
                      <a:r>
                        <a:rPr lang="zh-CN"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画面够不够“黑白分明”）</a:t>
                      </a:r>
                      <a:endParaRPr lang="zh-CN" altLang="en-US"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std 图的 99 分位 ÷ 中位数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越大越好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信号在 std 投影里够不够突出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63563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PSF 横向 FWHM</a:t>
                      </a:r>
                      <a:r>
                        <a:rPr lang="zh-CN" sz="1800" b="0">
                          <a:solidFill>
                            <a:schemeClr val="accent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lang="zh-CN" altLang="en-US" sz="1800" b="0">
                          <a:solidFill>
                            <a:schemeClr val="accent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反映分辨率。这个数值越小，光斑越紧凑，图像越清晰。</a:t>
                      </a:r>
                      <a:r>
                        <a:rPr lang="zh-CN" sz="1800" b="0">
                          <a:solidFill>
                            <a:schemeClr val="accent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）</a:t>
                      </a:r>
                      <a:endParaRPr lang="zh-CN" sz="1800" b="0">
                        <a:solidFill>
                          <a:schemeClr val="accent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最亮层过峰值行/列的半高全宽（µm）</a:t>
                      </a:r>
                      <a:endParaRPr sz="1800" b="0">
                        <a:solidFill>
                          <a:schemeClr val="accent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反映分辨率</a:t>
                      </a:r>
                      <a:endParaRPr sz="1800" b="0">
                        <a:solidFill>
                          <a:schemeClr val="accent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chemeClr val="accent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 / 采样改动的直接后果</a:t>
                      </a:r>
                      <a:endParaRPr sz="1800" b="0">
                        <a:solidFill>
                          <a:schemeClr val="accent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sz="1800" b="0">
                          <a:solidFill>
                            <a:srgbClr val="00B0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maxΔF/F p90（帧率不足-&gt;欠采样-&gt;未捕捉到峰值)</a:t>
                      </a:r>
                      <a:endParaRPr lang="zh-CN" sz="1800" b="0">
                        <a:solidFill>
                          <a:srgbClr val="00B0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sz="1800" b="0">
                          <a:solidFill>
                            <a:srgbClr val="00B0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峰值荧光响应 90 分位</a:t>
                      </a:r>
                      <a:endParaRPr lang="zh-CN" sz="1800" b="0">
                        <a:solidFill>
                          <a:srgbClr val="00B0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sz="1800" b="0">
                          <a:solidFill>
                            <a:srgbClr val="00B0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越大越好</a:t>
                      </a:r>
                      <a:endParaRPr lang="zh-CN" sz="1800" b="0">
                        <a:solidFill>
                          <a:srgbClr val="00B0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lang="zh-CN" sz="1800" b="0">
                          <a:solidFill>
                            <a:srgbClr val="00B05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帧率是否把峰削掉了</a:t>
                      </a:r>
                      <a:endParaRPr lang="zh-CN" sz="1800" b="0">
                        <a:solidFill>
                          <a:srgbClr val="00B05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  <a:tr h="478155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动态范围占用（ 防过曝检查）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max 像素值 ÷ 65535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20–60%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提亮后有没有逼近上限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479425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饱和像素比例</a:t>
                      </a:r>
                      <a:r>
                        <a:rPr sz="180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（ 防过曝检查）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≥65000 的像素占比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&lt; 0.1%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有没有 16-bit 硬截断</a:t>
                      </a:r>
                      <a:endParaRPr sz="18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64008" marR="45720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>
            <p:custDataLst>
              <p:tags r:id="rId1"/>
            </p:custDataLst>
          </p:nvPr>
        </p:nvSpPr>
        <p:spPr>
          <a:xfrm>
            <a:off x="0" y="4886325"/>
            <a:ext cx="5988685" cy="1971040"/>
          </a:xfrm>
          <a:prstGeom prst="roundRect">
            <a:avLst/>
          </a:prstGeom>
          <a:solidFill>
            <a:srgbClr val="E8F2F2"/>
          </a:solidFill>
          <a:ln w="15875">
            <a:solidFill>
              <a:srgbClr val="1F7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>
            <p:custDataLst>
              <p:tags r:id="rId2"/>
            </p:custDataLst>
          </p:nvPr>
        </p:nvSpPr>
        <p:spPr>
          <a:xfrm>
            <a:off x="18415" y="4886325"/>
            <a:ext cx="5970270" cy="19431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bg/sig 怎么算（不需要分割）</a:t>
            </a:r>
            <a:endParaRPr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信号区 = 「无背景电影」的时间最大值前 10% 像素</a:t>
            </a:r>
            <a:endParaRPr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背景区 = 其余像素</a:t>
            </a:r>
            <a:endParaRPr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两边各取时间 std 的中位数相除</a:t>
            </a:r>
            <a:endParaRPr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>
            <p:custDataLst>
              <p:tags r:id="rId3"/>
            </p:custDataLst>
          </p:nvPr>
        </p:nvSpPr>
        <p:spPr>
          <a:xfrm>
            <a:off x="6393815" y="4870450"/>
            <a:ext cx="5822950" cy="1983740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4"/>
            </p:custDataLst>
          </p:nvPr>
        </p:nvSpPr>
        <p:spPr>
          <a:xfrm>
            <a:off x="6393815" y="4855845"/>
            <a:ext cx="5796915" cy="202120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为什么用时间 std，而不是亮度</a:t>
            </a:r>
            <a:endParaRPr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背景很亮但不动 → 不影响 std 投影；</a:t>
            </a:r>
            <a:endParaRPr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背景亮度不变但一直波动 → std 图里到处是"像神经元的东西"。</a:t>
            </a:r>
            <a:endParaRPr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lang="zh-CN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我们关注的</a:t>
            </a:r>
            <a:r>
              <a:rPr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"背景波动"指的是后者。</a:t>
            </a:r>
            <a:endParaRPr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6 · 结果 · 光学参数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结果①：NA 几乎不动 PSF —— 因为它是散射主导的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-635" y="1417320"/>
          <a:ext cx="7242810" cy="4742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9215"/>
                <a:gridCol w="694690"/>
                <a:gridCol w="992505"/>
                <a:gridCol w="1537335"/>
                <a:gridCol w="843280"/>
                <a:gridCol w="1835785"/>
              </a:tblGrid>
              <a:tr h="67754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配置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像素(µm)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PSF 横向FWHM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vs 基线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单次光学耗时</a:t>
                      </a:r>
                      <a:endParaRPr sz="20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</a:tr>
              <a:tr h="67754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A_base</a:t>
                      </a:r>
                      <a:endParaRPr sz="20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0.35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13.79 µm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（参考运行）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67754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NA0.5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0.50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14.20 µm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B31B1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+3%</a:t>
                      </a:r>
                      <a:endParaRPr sz="2000" b="1">
                        <a:solidFill>
                          <a:srgbClr val="B31B1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5.2 h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67754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NA0.7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0.70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13.35 µm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B31B1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−3%</a:t>
                      </a:r>
                      <a:endParaRPr sz="2000" b="1">
                        <a:solidFill>
                          <a:srgbClr val="B31B1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10.6 h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67754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px1.6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0.35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1.6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13.49 µm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−2%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0（复用缓存）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67754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scat0.5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0.35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14.71 µm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B31B1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+7%</a:t>
                      </a:r>
                      <a:endParaRPr sz="2000" b="1">
                        <a:solidFill>
                          <a:srgbClr val="B31B1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3.5 h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677545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scat2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0.35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18.52 µm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B31B1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+34%</a:t>
                      </a:r>
                      <a:endParaRPr sz="2000" b="1">
                        <a:solidFill>
                          <a:srgbClr val="B31B1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3.2 h</a:t>
                      </a:r>
                      <a:endParaRPr sz="20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452360" y="1417320"/>
            <a:ext cx="4178808" cy="2148840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536192"/>
            <a:ext cx="3840480" cy="4375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</a:t>
            </a:r>
            <a:r>
              <a:rPr lang="zh-CN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</a:t>
            </a:r>
            <a:endParaRPr lang="zh-CN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635240" y="1847215"/>
            <a:ext cx="3840480" cy="149923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 从 0.35 提到 0.70（衍射极限直接减半），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实测 PSF 只从 13.79 变到 13.35 µm（−3%）。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endParaRPr sz="1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而散射 ×2 就把它拉到 18.52 µm（+34%）。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452360" y="3676015"/>
            <a:ext cx="4178935" cy="2438400"/>
          </a:xfrm>
          <a:prstGeom prst="roundRect">
            <a:avLst/>
          </a:prstGeom>
          <a:solidFill>
            <a:srgbClr val="E8F2F2"/>
          </a:solidFill>
          <a:ln w="15875">
            <a:solidFill>
              <a:srgbClr val="1F7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794760"/>
            <a:ext cx="3840480" cy="4375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</a:t>
            </a:r>
            <a:endParaRPr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51725" y="4105910"/>
            <a:ext cx="4192270" cy="12528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衍射极限下 NA0.35 的光斑约 0.7 µm，而实测 13.8 µm —— 差 20 倍。说明当前 </a:t>
            </a:r>
            <a:r>
              <a:rPr lang="en-US" altLang="zh-CN"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PSF </a:t>
            </a:r>
            <a:r>
              <a:rPr lang="zh-CN" altLang="en-US"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完全是被组织的散射效应撑开的</a:t>
            </a:r>
            <a:r>
              <a:rPr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，衍射项在噪声里，改 NA 没有意义。</a:t>
            </a:r>
            <a:r>
              <a:rPr lang="zh-CN" altLang="en-US" sz="14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衍射特性早就被淹没在散射的背景里了。</a:t>
            </a:r>
            <a:endParaRPr lang="zh-CN" altLang="en-US" sz="14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6 · 结果 · 背景波动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结果②：12 张 std 投影，同一色标逐张看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A_base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0.63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Picture 6" descr="std_A_ba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9344"/>
            <a:ext cx="1691640" cy="1691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41448" y="1389888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NA0.5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0.72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Picture 8" descr="std_NA0.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09344"/>
            <a:ext cx="169164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15968" y="1389888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NA0.7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0.75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1" name="Picture 10" descr="std_NA0.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1609344"/>
            <a:ext cx="1691640" cy="1691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0488" y="1389888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px1.6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0.71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3" name="Picture 12" descr="std_px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1609344"/>
            <a:ext cx="1691640" cy="1691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65008" y="1389888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vd2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0.71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" name="Picture 14" descr="std_v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1609344"/>
            <a:ext cx="1691640" cy="16916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39528" y="1389888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vd0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0.81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7" name="Picture 16" descr="std_vd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9528" y="1609344"/>
            <a:ext cx="1691640" cy="1691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3474720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sig100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0.71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9" name="Picture 18" descr="std_sig1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3694176"/>
            <a:ext cx="1691640" cy="1691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41448" y="3474720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sig50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0.71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1" name="Picture 20" descr="std_sig5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1448" y="3694176"/>
            <a:ext cx="1691640" cy="1691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15968" y="3474720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377E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scat0.5</a:t>
            </a:r>
            <a:r>
              <a:rPr sz="900" b="0">
                <a:solidFill>
                  <a:srgbClr val="377E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0.59</a:t>
            </a:r>
            <a:endParaRPr sz="900" b="0">
              <a:solidFill>
                <a:srgbClr val="377E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3" name="Picture 22" descr="std_scat0.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5968" y="3694176"/>
            <a:ext cx="1691640" cy="169164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315968" y="3694176"/>
            <a:ext cx="1691640" cy="1691640"/>
          </a:xfrm>
          <a:prstGeom prst="rect">
            <a:avLst/>
          </a:prstGeom>
          <a:noFill/>
          <a:ln w="27940">
            <a:solidFill>
              <a:srgbClr val="37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0488" y="3474720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scat2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0.85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6" name="Picture 25" descr="std_scat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0488" y="3694176"/>
            <a:ext cx="1691640" cy="16916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65008" y="3474720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hemo0</a:t>
            </a: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0.69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28" name="Picture 27" descr="std_hemo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65008" y="3694176"/>
            <a:ext cx="1691640" cy="1691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939528" y="3474720"/>
            <a:ext cx="169164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50" b="1">
                <a:solidFill>
                  <a:srgbClr val="377E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combo</a:t>
            </a:r>
            <a:r>
              <a:rPr sz="900" b="0">
                <a:solidFill>
                  <a:srgbClr val="377E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0.40</a:t>
            </a:r>
            <a:endParaRPr sz="900" b="0">
              <a:solidFill>
                <a:srgbClr val="377E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0" name="Picture 29" descr="std_comb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39528" y="3694176"/>
            <a:ext cx="1691640" cy="169164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9939528" y="3694176"/>
            <a:ext cx="1691640" cy="1691640"/>
          </a:xfrm>
          <a:prstGeom prst="rect">
            <a:avLst/>
          </a:prstGeom>
          <a:noFill/>
          <a:ln w="27940">
            <a:solidFill>
              <a:srgbClr val="37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431536"/>
            <a:ext cx="3840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 std（a.u.）  0  →  3084</a:t>
            </a:r>
            <a:endParaRPr sz="9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33" name="Picture 32" descr="cba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6928" y="5650992"/>
            <a:ext cx="3840480" cy="25603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45965" y="5504815"/>
            <a:ext cx="7450455" cy="11976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统一色标 0–3084（A_base 的 99.5 分位）；每张都由对应的 mov_w_bg.tiff 前 200 帧逐像素求标准差得到。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绿框标出 bg/sig 最低的两个：scat0.5 = 0.59、combo = 0.40（标签后的数字即 bg/sig，越小越干净）。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注意：各次运行保存 tiff 时已按自身最大值归一化，面板间绝对亮度只能定性比较，定量请用 bg/sig（比值）。</a:t>
            </a:r>
            <a:endParaRPr sz="12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7728" y="3657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6 · 结果 · 背景波动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结果②b：归因 —— 散射单调决定，噪声完全无效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0" y="657225"/>
          <a:ext cx="7044690" cy="54806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2220"/>
                <a:gridCol w="2382520"/>
                <a:gridCol w="969645"/>
                <a:gridCol w="1170305"/>
              </a:tblGrid>
              <a:tr h="574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配置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改了什么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bg/sig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vs 重跑基线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</a:tr>
              <a:tr h="112141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combo</a:t>
                      </a:r>
                      <a:r>
                        <a:rPr lang="zh-CN"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（</a:t>
                      </a:r>
                      <a:r>
                        <a:rPr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搏动2+sigma100+散射0.5+exp15（提亮度）</a:t>
                      </a:r>
                      <a:r>
                        <a:rPr lang="zh-CN"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  <a:sym typeface="+mn-ea"/>
                        </a:rPr>
                        <a:t>）</a:t>
                      </a:r>
                      <a:endParaRPr lang="zh-CN" sz="1800" b="1">
                        <a:solidFill>
                          <a:srgbClr val="377E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  <a:sym typeface="+mn-ea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exp 5→15 +搏动2 +σ100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0.398</a:t>
                      </a:r>
                      <a:endParaRPr sz="18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−44%</a:t>
                      </a:r>
                      <a:endParaRPr sz="1800" b="1">
                        <a:solidFill>
                          <a:srgbClr val="377E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2131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scat0.5</a:t>
                      </a:r>
                      <a:endParaRPr sz="1800" b="1">
                        <a:solidFill>
                          <a:srgbClr val="377E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散射强度 ×0.5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0.593</a:t>
                      </a:r>
                      <a:endParaRPr sz="18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−16%</a:t>
                      </a:r>
                      <a:endParaRPr sz="1800" b="1">
                        <a:solidFill>
                          <a:srgbClr val="377E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A_base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参考运行（不同基准）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0.625</a:t>
                      </a:r>
                      <a:endParaRPr sz="1800" b="0">
                        <a:solidFill>
                          <a:srgbClr val="FF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— 见注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225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55A1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hemo0</a:t>
                      </a:r>
                      <a:endParaRPr sz="1800" b="1">
                        <a:solidFill>
                          <a:srgbClr val="C55A1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血红蛋白吸收归零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0.688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vd2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血管搏动 10→2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0.708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213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px1.6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像素 0.8→1.6 µm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0.708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32131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sig100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σ_p 200→100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0.709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sig50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σ_p 200→50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0.709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0.0%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3225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55A1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NA0.5</a:t>
                      </a:r>
                      <a:endParaRPr sz="1800" b="1">
                        <a:solidFill>
                          <a:srgbClr val="C55A1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 → 0.50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0.722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+1.9%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55A1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NA0.7</a:t>
                      </a:r>
                      <a:endParaRPr sz="1800" b="1">
                        <a:solidFill>
                          <a:srgbClr val="C55A1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NA → 0.70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0.754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+6.5%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32321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55A1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vd0</a:t>
                      </a:r>
                      <a:endParaRPr sz="1800" b="1">
                        <a:solidFill>
                          <a:srgbClr val="C55A1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关闭血管调制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0.811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+14.4%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C55A1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scat2</a:t>
                      </a:r>
                      <a:endParaRPr sz="1800" b="1">
                        <a:solidFill>
                          <a:srgbClr val="C55A1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散射强度 ×2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0.848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+19.7%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0" y="6132195"/>
            <a:ext cx="11885295" cy="629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注：A_base 是原版参考运行（1000 帧、rng shuffle），与其余 11 个配置（200 帧、rng(1)）基准不同，不可直接比；真实的"无改动基线"是 0.709 平台—— 由 sig100/sig50/px1.6/vd2 四个"应无影响"的配置交叉确认。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8" name="Picture 7" descr="frame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835" y="-127"/>
            <a:ext cx="3805279" cy="41147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62470" y="4168775"/>
            <a:ext cx="5074920" cy="1181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单帧视觉对比（各图自身 0.5–99.8 分位拉伸，中央 352×352 裁剪）：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combo 里神经元颗粒清晰、背景平滑；scat2 里噪声与弥漫背景吞掉细节。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6 · 结果 · 帧率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结果③：10 Hz 只丢 4% 的峰值，30 Hz 却多花 37% 的噪声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4922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6928" y="1389888"/>
            <a:ext cx="11064240" cy="841248"/>
          </a:xfrm>
          <a:prstGeom prst="roundRect">
            <a:avLst/>
          </a:prstGeom>
          <a:solidFill>
            <a:srgbClr val="E8F2F2"/>
          </a:solidFill>
          <a:ln w="15875">
            <a:solidFill>
              <a:srgbClr val="1F7A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9616"/>
            <a:ext cx="10607040" cy="36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实验设计：同种子 + 等时长 → 两边脉冲序列完全一致</a:t>
            </a:r>
            <a:endParaRPr sz="140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1810512"/>
            <a:ext cx="10607040" cy="629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都用 rng(1) 重新生成 S.mat；10 Hz×200 帧 与 30 Hz×800 帧 的时长都是 30 s，100 Hz 粒度步数同为 3000 → 唯一的差别就是采样率。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377440"/>
          <a:ext cx="644651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463040"/>
                <a:gridCol w="146304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指标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10 Hz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Hz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差异</a:t>
                      </a:r>
                      <a:endParaRPr sz="18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保留帧数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200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800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4×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时长 / 粒度步数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s / 3000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s / 3000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相同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maxΔF/F p50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3.014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3.133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+3.9%</a:t>
                      </a:r>
                      <a:endParaRPr sz="1800" b="1">
                        <a:solidFill>
                          <a:srgbClr val="377E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maxΔF/F p90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5.306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5.470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77E22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+3.1%</a:t>
                      </a:r>
                      <a:endParaRPr sz="1800" b="1">
                        <a:solidFill>
                          <a:srgbClr val="377E22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bg/sig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0.667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0.912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31B1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+37%（更差）</a:t>
                      </a:r>
                      <a:endParaRPr sz="1800" b="1">
                        <a:solidFill>
                          <a:srgbClr val="B31B1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std 对比度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2.02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1.42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31B1B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−30%</a:t>
                      </a:r>
                      <a:endParaRPr sz="1800" b="1">
                        <a:solidFill>
                          <a:srgbClr val="B31B1B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扫描耗时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30 min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1.9 h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3.7×</a:t>
                      </a:r>
                      <a:endParaRPr sz="18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>
            <p:custDataLst>
              <p:tags r:id="rId1"/>
            </p:custDataLst>
          </p:nvPr>
        </p:nvSpPr>
        <p:spPr>
          <a:xfrm>
            <a:off x="7223760" y="2377440"/>
            <a:ext cx="4407408" cy="1645920"/>
          </a:xfrm>
          <a:prstGeom prst="roundRect">
            <a:avLst/>
          </a:prstGeom>
          <a:solidFill>
            <a:srgbClr val="ECF5E9"/>
          </a:solidFill>
          <a:ln w="15875">
            <a:solidFill>
              <a:srgbClr val="37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2"/>
            </p:custDataLst>
          </p:nvPr>
        </p:nvSpPr>
        <p:spPr>
          <a:xfrm>
            <a:off x="7406640" y="2487168"/>
            <a:ext cx="4114800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377E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采样保真度：10 Hz 够用</a:t>
            </a:r>
            <a:endParaRPr sz="1600" b="1">
              <a:solidFill>
                <a:srgbClr val="377E2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>
            <p:custDataLst>
              <p:tags r:id="rId3"/>
            </p:custDataLst>
          </p:nvPr>
        </p:nvSpPr>
        <p:spPr>
          <a:xfrm>
            <a:off x="7406640" y="2779776"/>
            <a:ext cx="4114800" cy="1076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帧率提到 30 Hz，峰值只高 3–4%。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说明当前钙动力学（τ≈0.5–1 s）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100 ms 采样下几乎没有被削峰。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7223760" y="4160520"/>
            <a:ext cx="4407408" cy="1691640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5"/>
            </p:custDataLst>
          </p:nvPr>
        </p:nvSpPr>
        <p:spPr>
          <a:xfrm>
            <a:off x="7406640" y="4270248"/>
            <a:ext cx="4114800" cy="3987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但成像代价很大</a:t>
            </a:r>
            <a:endParaRPr sz="160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6"/>
            </p:custDataLst>
          </p:nvPr>
        </p:nvSpPr>
        <p:spPr>
          <a:xfrm>
            <a:off x="7406640" y="4562856"/>
            <a:ext cx="4114800" cy="1076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 Hz 每帧光子数只有 1/3，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bg/sig 0.667→0.912（恶化 37%），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16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std 对比度 2.02→1.42，耗时 3.7 倍。</a:t>
            </a:r>
            <a:endParaRPr sz="16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66928" y="5961888"/>
            <a:ext cx="11064240" cy="566928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606247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结论：帧率不是当前的瓶颈 —— 10 Hz 已足够采到峰值；只有钙瞬变明显更快（更短的 τ）时才需要重估。</a:t>
            </a:r>
            <a:endParaRPr sz="10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7 · 结论</a:t>
            </a:r>
            <a:endParaRPr sz="11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566928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结论：背景波动不是"噪声问题"，是"散射+亮度问题"</a:t>
            </a:r>
            <a:endParaRPr sz="270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64240" cy="32004"/>
          </a:xfrm>
          <a:prstGeom prst="rect">
            <a:avLst/>
          </a:prstGeom>
          <a:solidFill>
            <a:srgbClr val="1F7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56848" y="6936740"/>
            <a:ext cx="640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1000" b="0">
                <a:solidFill>
                  <a:srgbClr val="F2F2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endParaRPr sz="1000" b="0">
              <a:solidFill>
                <a:srgbClr val="F2F2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5486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1F7A7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已经能下的结论（全部有实测支撑）</a:t>
            </a:r>
            <a:endParaRPr sz="1250" b="1">
              <a:solidFill>
                <a:srgbClr val="1F7A7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5532120" cy="3399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散射是背景波动的主导因素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×0.5 → 0.593，×1 → 0.709，×2 → 0.848（单调）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读出噪声不是主因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σ_p 200→50，bg/sig 完全不变（0.709 → 0.709）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血管搏动也不是主因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10→2 只动 0.2%；关掉血管反而更差（0.811）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 NA 买不到清晰度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NA 0.35→0.70，PSF 只从 13.79 到 13.35 µm</a:t>
            </a:r>
            <a:endParaRPr sz="160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 帧率 10 Hz 够用，但不是越高越好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10→30 Hz 峰值只高 3–4%，bg/sig 却恶化 37%</a:t>
            </a:r>
            <a:endParaRPr sz="1600" b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55080" y="1389888"/>
            <a:ext cx="5257800" cy="3017520"/>
          </a:xfrm>
          <a:prstGeom prst="roundRect">
            <a:avLst/>
          </a:prstGeom>
          <a:solidFill>
            <a:srgbClr val="FDF2E9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08760"/>
            <a:ext cx="4937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C55A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最有效的做法：提亮信号，而不是压背景</a:t>
            </a:r>
            <a:endParaRPr sz="1150" b="1">
              <a:solidFill>
                <a:srgbClr val="C55A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37960" y="1828800"/>
            <a:ext cx="4937760" cy="2279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combo（exp 5→15 + 搏动2 + σ100）把 bg/sig 从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0.709 压到 0.398（−44%），std 对比度 2.26→3.44，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神经元在 std 投影里变成一颗颗独立的亮点。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注意：搏动与噪声两项单独测下来都是空转，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 combo 的收益几乎全部来自 exp_level 5→15。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400" b="0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这一点还需要一个"只改 exp_level"的配置来最终确认。</a:t>
            </a:r>
            <a:endParaRPr sz="1400" b="0">
              <a:solidFill>
                <a:srgbClr val="595959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5176393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</a:t>
            </a:r>
            <a:endParaRPr sz="1250" b="1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7055" y="5467350"/>
          <a:ext cx="11064240" cy="1393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5029200"/>
                <a:gridCol w="5074920"/>
              </a:tblGrid>
              <a:tr h="278765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优先级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做什么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为什么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1F3864"/>
                    </a:solidFill>
                  </a:tcPr>
                </a:tc>
              </a:tr>
              <a:tr h="278765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F3864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P0</a:t>
                      </a:r>
                      <a:endParaRPr sz="1600" b="1">
                        <a:solidFill>
                          <a:srgbClr val="1F3864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补一个 exp15 单因素配置（约 2 分钟，复用缓存）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把 combo 的收益来源钉死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278765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P1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向老师确认实采系统的 NA / 像素 / 帧率 / 散射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当前参数未必等于真实显微镜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  <a:tr h="278765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P2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若散射是主因，与实测散射系数对齐 scatter_wt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而不是继续往下压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FFFFF"/>
                    </a:solidFill>
                  </a:tcPr>
                </a:tc>
              </a:tr>
              <a:tr h="278765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完成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帧率 10 vs 30 Hz 对比（结果③）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595959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已跑完，10 Hz 够用</a:t>
                      </a:r>
                      <a:endParaRPr sz="1600" b="0">
                        <a:solidFill>
                          <a:srgbClr val="595959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54864" marR="36576" marT="9144" marB="9144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2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3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4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5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6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7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8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9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10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11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12.xml><?xml version="1.0" encoding="utf-8"?>
<p:tagLst xmlns:p="http://schemas.openxmlformats.org/presentationml/2006/main">
  <p:tag name="KSO_WM_DIAGRAM_VIRTUALLY_FRAME" val="{&quot;height&quot;:136.8,&quot;left&quot;:44.64,&quot;top&quot;:331.2,&quot;width&quot;:860.3999212598426}"/>
</p:tagLst>
</file>

<file path=ppt/tags/tag13.xml><?xml version="1.0" encoding="utf-8"?>
<p:tagLst xmlns:p="http://schemas.openxmlformats.org/presentationml/2006/main">
  <p:tag name="TABLE_ENDDRAG_ORIGIN_RECT" val="336*297"/>
  <p:tag name="TABLE_ENDDRAG_RECT" val="608*100*336*297"/>
</p:tagLst>
</file>

<file path=ppt/tags/tag14.xml><?xml version="1.0" encoding="utf-8"?>
<p:tagLst xmlns:p="http://schemas.openxmlformats.org/presentationml/2006/main">
  <p:tag name="TABLE_ENDDRAG_ORIGIN_RECT" val="480*294"/>
  <p:tag name="TABLE_ENDDRAG_RECT" val="0*135*480*294"/>
</p:tagLst>
</file>

<file path=ppt/tags/tag15.xml><?xml version="1.0" encoding="utf-8"?>
<p:tagLst xmlns:p="http://schemas.openxmlformats.org/presentationml/2006/main">
  <p:tag name="TABLE_ENDDRAG_ORIGIN_RECT" val="959*498"/>
  <p:tag name="TABLE_ENDDRAG_RECT" val="0*41*959*498"/>
</p:tagLst>
</file>

<file path=ppt/tags/tag16.xml><?xml version="1.0" encoding="utf-8"?>
<p:tagLst xmlns:p="http://schemas.openxmlformats.org/presentationml/2006/main">
  <p:tag name="KSO_WM_DIAGRAM_VIRTUALLY_FRAME" val="{&quot;height&quot;:207.45,&quot;left&quot;:43.14000000000001,&quot;top&quot;:504.23999999999995,&quot;width&quot;:874.3100000000001}"/>
</p:tagLst>
</file>

<file path=ppt/tags/tag17.xml><?xml version="1.0" encoding="utf-8"?>
<p:tagLst xmlns:p="http://schemas.openxmlformats.org/presentationml/2006/main">
  <p:tag name="KSO_WM_DIAGRAM_VIRTUALLY_FRAME" val="{&quot;height&quot;:207.45,&quot;left&quot;:43.14000000000001,&quot;top&quot;:504.23999999999995,&quot;width&quot;:874.3100000000001}"/>
</p:tagLst>
</file>

<file path=ppt/tags/tag18.xml><?xml version="1.0" encoding="utf-8"?>
<p:tagLst xmlns:p="http://schemas.openxmlformats.org/presentationml/2006/main">
  <p:tag name="KSO_WM_DIAGRAM_VIRTUALLY_FRAME" val="{&quot;height&quot;:207.45,&quot;left&quot;:43.14000000000001,&quot;top&quot;:504.23999999999995,&quot;width&quot;:874.3100000000001}"/>
</p:tagLst>
</file>

<file path=ppt/tags/tag19.xml><?xml version="1.0" encoding="utf-8"?>
<p:tagLst xmlns:p="http://schemas.openxmlformats.org/presentationml/2006/main">
  <p:tag name="KSO_WM_DIAGRAM_VIRTUALLY_FRAME" val="{&quot;height&quot;:207.45,&quot;left&quot;:43.14000000000001,&quot;top&quot;:504.23999999999995,&quot;width&quot;:874.3100000000001}"/>
</p:tagLst>
</file>

<file path=ppt/tags/tag20.xml><?xml version="1.0" encoding="utf-8"?>
<p:tagLst xmlns:p="http://schemas.openxmlformats.org/presentationml/2006/main">
  <p:tag name="TABLE_ENDDRAG_ORIGIN_RECT" val="554*468"/>
  <p:tag name="TABLE_ENDDRAG_RECT" val="0*51*554*468"/>
</p:tagLst>
</file>

<file path=ppt/tags/tag21.xml><?xml version="1.0" encoding="utf-8"?>
<p:tagLst xmlns:p="http://schemas.openxmlformats.org/presentationml/2006/main">
  <p:tag name="KSO_WM_DIAGRAM_VIRTUALLY_FRAME" val="{&quot;height&quot;:273.6,&quot;left&quot;:568.8,&quot;top&quot;:187.2,&quot;width&quot;:347.03999999999996}"/>
</p:tagLst>
</file>

<file path=ppt/tags/tag22.xml><?xml version="1.0" encoding="utf-8"?>
<p:tagLst xmlns:p="http://schemas.openxmlformats.org/presentationml/2006/main">
  <p:tag name="KSO_WM_DIAGRAM_VIRTUALLY_FRAME" val="{&quot;height&quot;:273.6,&quot;left&quot;:568.8,&quot;top&quot;:187.2,&quot;width&quot;:347.03999999999996}"/>
</p:tagLst>
</file>

<file path=ppt/tags/tag23.xml><?xml version="1.0" encoding="utf-8"?>
<p:tagLst xmlns:p="http://schemas.openxmlformats.org/presentationml/2006/main">
  <p:tag name="KSO_WM_DIAGRAM_VIRTUALLY_FRAME" val="{&quot;height&quot;:273.6,&quot;left&quot;:568.8,&quot;top&quot;:187.2,&quot;width&quot;:347.03999999999996}"/>
</p:tagLst>
</file>

<file path=ppt/tags/tag24.xml><?xml version="1.0" encoding="utf-8"?>
<p:tagLst xmlns:p="http://schemas.openxmlformats.org/presentationml/2006/main">
  <p:tag name="KSO_WM_DIAGRAM_VIRTUALLY_FRAME" val="{&quot;height&quot;:273.6,&quot;left&quot;:568.8,&quot;top&quot;:187.2,&quot;width&quot;:347.03999999999996}"/>
</p:tagLst>
</file>

<file path=ppt/tags/tag25.xml><?xml version="1.0" encoding="utf-8"?>
<p:tagLst xmlns:p="http://schemas.openxmlformats.org/presentationml/2006/main">
  <p:tag name="KSO_WM_DIAGRAM_VIRTUALLY_FRAME" val="{&quot;height&quot;:273.6,&quot;left&quot;:568.8,&quot;top&quot;:187.2,&quot;width&quot;:347.03999999999996}"/>
</p:tagLst>
</file>

<file path=ppt/tags/tag26.xml><?xml version="1.0" encoding="utf-8"?>
<p:tagLst xmlns:p="http://schemas.openxmlformats.org/presentationml/2006/main">
  <p:tag name="KSO_WM_DIAGRAM_VIRTUALLY_FRAME" val="{&quot;height&quot;:273.6,&quot;left&quot;:568.8,&quot;top&quot;:187.2,&quot;width&quot;:347.0399999999999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7810</Words>
  <Application>WPS 演示</Application>
  <PresentationFormat>On-screen Show (4:3)</PresentationFormat>
  <Paragraphs>1013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胡亚鑫</cp:lastModifiedBy>
  <cp:revision>51</cp:revision>
  <dcterms:created xsi:type="dcterms:W3CDTF">2013-01-27T09:14:00Z</dcterms:created>
  <dcterms:modified xsi:type="dcterms:W3CDTF">2026-10-20T12:20:39Z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722456E662B24AE3B2C9D6E1AD35E6C1_13</vt:lpwstr>
  </property>
  <property fmtid="{D5CDD505-2E9C-101B-9397-08002B2CF9AE}" pid="3" name="KSOProductBuildVer">
    <vt:lpwstr>2052-12.1.0.26373</vt:lpwstr>
  </property>
</Properties>
</file>