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20"/>
    <p:sldId id="270" r:id="rId19"/>
    <p:sldId id="271" r:id="rId18"/>
    <p:sldId id="272" r:id="rId17"/>
    <p:sldId id="273" r:id="rId24"/>
  </p:sldIdLst>
  <p:sldSz cx="1219136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4"/>
        <p:guide pos="29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7.xml"/><Relationship Id="rId18" Type="http://schemas.openxmlformats.org/officeDocument/2006/relationships/slide" Target="slides/slide16.xml"/><Relationship Id="rId19" Type="http://schemas.openxmlformats.org/officeDocument/2006/relationships/slide" Target="slides/slide15.xml"/><Relationship Id="rId20" Type="http://schemas.openxmlformats.org/officeDocument/2006/relationships/slide" Target="slides/slide14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PSF（点扩散函数） 在轴向（z）的衰减：100 µm 内只降到 73.7%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PSF 轴向累积强度</c:v>
                </c:pt>
              </c:strCache>
            </c:strRef>
          </c:tx>
          <c:spPr>
            <a:ln w="28575" cap="rnd" cmpd="sng" algn="ctr">
              <a:solidFill>
                <a:srgbClr val="1F7A7D"/>
              </a:solidFill>
              <a:prstDash val="solid"/>
              <a:round/>
            </a:ln>
          </c:spPr>
          <c:dLbls>
            <c:delete val="1"/>
          </c:dLbls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99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0.9997</c:v>
                </c:pt>
                <c:pt idx="1">
                  <c:v>1</c:v>
                </c:pt>
                <c:pt idx="2">
                  <c:v>0.9992</c:v>
                </c:pt>
                <c:pt idx="3">
                  <c:v>0.9975</c:v>
                </c:pt>
                <c:pt idx="4">
                  <c:v>0.9946</c:v>
                </c:pt>
                <c:pt idx="5">
                  <c:v>0.9905</c:v>
                </c:pt>
                <c:pt idx="6">
                  <c:v>0.9851</c:v>
                </c:pt>
                <c:pt idx="7">
                  <c:v>0.9785</c:v>
                </c:pt>
                <c:pt idx="8">
                  <c:v>0.9706</c:v>
                </c:pt>
                <c:pt idx="9">
                  <c:v>0.9611</c:v>
                </c:pt>
                <c:pt idx="10">
                  <c:v>0.95</c:v>
                </c:pt>
                <c:pt idx="11">
                  <c:v>0.937</c:v>
                </c:pt>
                <c:pt idx="12">
                  <c:v>0.9219</c:v>
                </c:pt>
                <c:pt idx="13">
                  <c:v>0.9052</c:v>
                </c:pt>
                <c:pt idx="14">
                  <c:v>0.8858</c:v>
                </c:pt>
                <c:pt idx="15">
                  <c:v>0.8645</c:v>
                </c:pt>
                <c:pt idx="16">
                  <c:v>0.841</c:v>
                </c:pt>
                <c:pt idx="17">
                  <c:v>0.8158</c:v>
                </c:pt>
                <c:pt idx="18">
                  <c:v>0.788</c:v>
                </c:pt>
                <c:pt idx="19">
                  <c:v>0.7606</c:v>
                </c:pt>
                <c:pt idx="20">
                  <c:v>0.7372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000">
                    <a:solidFill>
                      <a:srgbClr val="59595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深度 z（µm）</a:t>
                </a:r>
                <a:endParaRPr sz="10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.05"/>
          <c:min val="0.6"/>
        </c:scaling>
        <c:delete val="0"/>
        <c:axPos val="l"/>
        <c:majorGridlines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000">
                    <a:solidFill>
                      <a:srgbClr val="59595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相对强度</a:t>
                </a:r>
                <a:endParaRPr sz="10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d31bd7a5-3ec3-4a0a-b56d-96efaa3d342b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开场：这套代码是 NAOMi 的单光子改造版，能把"虚拟脑组织 + 虚拟显微镜 + 虚拟神经元放电"全流程跑通，产出带完美标准答案的钙成像电影。我今天不是讲"我又跑了一次"，而是讲"这套代码到底在我手里变成了什么样、它的物理边界在哪、以及我怎么用参数去控制数据难度"。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这一页讲动机：不是"我想跑个仿真"，而是"业界缺带标准答案的数据"。我们的产出不是一张图，而是图像+坐标+放电三件套，三者时间空间严格对齐。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讲流程时强调两点：（1）四段之间是串行依赖，第①步最慢；（2）每一步的中间产物都落盘，所以可以只改噪声参数、复用前面的体积，这决定了调参的迭代成本。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这一页是全篇的"事实基线"。所有数字都是从 prams.mat / spikes_opts.mat 里用二进制解析出来的，不是读代码猜的默认值。特别强调 1620 vs 6075 的区别：这是把"散落的历史产物"和"本次运行"区分开的证据链，也体现我们不是跑完就交，而是回头核对了每个数字的出处。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产物分四类讲，重点落在最后一类"冗余"：debug 目录本质是电影拆帧，2.1 GB 纯属重复。这体现我们对产物的理解是"信息论层面"的——同样信息不存两遍。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这张图就是"证据"。左半边是理想真值（我们刻意做了百分位拉伸，否则肉眼看不见），右半边是加噪后同区域——胞体几乎被散粒噪声吞掉。数字上：加噪帧均值是纯信号帧的 364–451 倍，单帧活动变化只有噪声的 7%。这解释了为什么下游算法在 1p 数据上召回率普遍很低。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这一页回答"为什么背景这么强"。很多人以为是参数没调好，其实是 1p 的物理本质：没有针孔，就没有轴向选择性。我用 psf.tiff 逐层积分验证：100 µm 内只降到 73.7%，半高宽都大于 100 µm。所以"150µm 体积里所有细胞糊在一起"是物理必然，不是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这页是"技术可信度"的关键。不要笼统说"我把旧 API 都换了"，而是逐条列：哪一行、换成了什么、为什么这么换。同时主动交代两处不完美（gamrnd 未换、z-score 只用于画图），这比假装全对更能建立信任——因为汇报对象只要抽查一行代码就能发现。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这一页说明：为了做"配置间可比"，我们直接改了源码（有 git 可以回滚）。重点讲 rng(sprev) 那个坑——只注释 shuffle 会导致所有细胞形状一模一样，比原来更难发现。右侧的假旋钮清单是省时间的：调不动的地方别浪费机时。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开场先把目标说清楚：目标变了，不再是"标准化数据集/可复现门禁"那套工程任务。老师要的是三件具体的事：调光学参数看影响、压背景波动、看帧率。每张卡片上引的是老师原话，体现需求对齐。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这页是方法核心。讲清三点：1) 只改一个参数；2) 复用体积和时序，所以是严格的控制变量；3) 体积生成只做一次，成本从 13×25 分钟降到 2.5 小时。右下角单独点出帧率的例外——它必须重生成 S，并靠"等时长"保证脉冲序列一致。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参数表不用逐行念，只讲结构：0 是基线，1-3 光学，4-5 传感器，6-7 血管，8-10 散射与吸收，11 组合，12-13 帧率。强调"每个配置只动一个参数"，以及 combo 是唯一的多参数组合，用来给出上限。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这页建立判读语言。特别讲右侧那条区分：亮 vs 波动是两个问题，std 投影只反映波动。bg/sig 是最重要的一个数，它把老师口中的"背景波动很大"变成一个可以比较的数。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这页的结论是"负结果"，但很有价值：王老师问"NA 和像素采样有什么差别"，答案是 NA 几乎不影响 —— 因为 PSF 由散射支配（13.8 µm vs 衍射极限 0.7 µm）。想真正提高分辨率必须动散射参数或组织模型，不是动 NA。另外注意 NA0.7 的光学重算要 10.6 小时，成本极高。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这是本次最重要的一张图。讲图顺序：先指 A_base 的弥漫背景 → 再指 scat0.5/scat2 的差别 → 最后指 combo：神经元变成一颗颗独立的亮点，背景干净。强调统一色标，避免"各自拉伸"的视觉欺骗。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这一页是归因的核心。三条要点：1) 散射是唯一单调、且幅度大的因素（×0.5→0.59，×2→0.85）；2) 读出噪声 sigma_p 从 200 压到 50，bg/sig 一个数字都没动 —— 说明背景波动不是噪声问题，是荧光涨落/散射问题（这也修正了"压低噪声就能让神经元凸显"的直觉）；3) 关掉血管反而更差（0.81）：血管遮挡在"挡光"，去掉它背景更亮。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这一页老实标"未跑"。帧率是老师第三个问题，但成本最高（30 Hz 要 800 帧）。设计已经想清楚：等时长 + 同种子 → 脉冲序列一致，只差采样率。下一次跑完把 maxΔF/F 两列填上即可。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收尾。核心信息：老师以为问题在"背景波动大"，实测下来是散射 + 信号太暗。压低噪声没用（一个数字都不动），提亮信号最有效（−44%）。下一步 P0 只要 2 分钟就能把 combo 的归因钉死，建议现场就补。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NAOMi1p · 单光子宽场钙成像仿真器</a:t>
            </a:r>
            <a:endParaRPr sz="1400" b="1">
              <a:solidFill>
                <a:srgbClr val="9DC3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虚拟脑组织钙成像数据生成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0">
                <a:solidFill>
                  <a:srgbClr val="C9D8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调参实验：光学参数 · 背景波动 · 帧率</a:t>
            </a:r>
            <a:endParaRPr sz="2600" b="0">
              <a:solidFill>
                <a:srgbClr val="C9D8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本次汇报的全部结论均来自对真实运行产物的实测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运行目录：D:\MesoTwins\NAOMi1p_output\w_dend\res_0.80\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vol_600_150_NA_0.35_Hz_10_exp_5_d_30k_pw_0.50\1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检查手段：TIFF 头解析 · MATLAB v7 参数文件解析 · 逐帧统计 · 代码全量 grep 溯源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汇报人：__________</a:t>
            </a:r>
            <a:endParaRPr sz="1200" b="0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1 · 项目概览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为什么需要"计算机里养出来的"钙成像数据？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endParaRPr sz="15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5394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训练神经元分割模型需要大量带像素级答案的数据</a:t>
            </a:r>
            <a:endParaRPr sz="13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真实实验拿不到 Ground Truth：只能靠人工标注</a:t>
            </a:r>
            <a:endParaRPr sz="13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人工标注慢、不可复现、且不同标注员不一致</a:t>
            </a:r>
            <a:endParaRPr sz="13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深层 1p 数据噪声极大，人眼都难对齐</a:t>
            </a:r>
            <a:endParaRPr sz="13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本项目的解法</a:t>
            </a:r>
            <a:endParaRPr sz="15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1847088"/>
            <a:ext cx="5394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用物理仿真"长"出一块脑组织</a:t>
            </a:r>
            <a:endParaRPr sz="13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每个神经元的 3D 坐标 / 形状 / 放电时刻全部已知</a:t>
            </a:r>
            <a:endParaRPr sz="13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光学传播 + 相机噪声全流程模拟，产出逼真 TIFF</a:t>
            </a:r>
            <a:endParaRPr sz="13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真值 100% 准确 → 可当作算法的"性能上限"基准</a:t>
            </a:r>
            <a:endParaRPr sz="13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3611880"/>
            <a:ext cx="1106424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76732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我们的交付物：三件东西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420624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</a:t>
            </a:r>
            <a:endParaRPr sz="12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096" y="46177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mov_w_bg.tiff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96" y="50292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 帧 × 750×750</a:t>
            </a: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16-bit 钙成像电影</a:t>
            </a: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15968" y="420624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17136" y="46177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vol_out.locs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17136" y="50292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1620 个神经元</a:t>
            </a: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 3D 位置（µm）</a:t>
            </a: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65007" y="420624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放电</a:t>
            </a:r>
            <a:endParaRPr sz="12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6175" y="46177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spikes.mat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66175" y="50292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每个细胞的真实</a:t>
            </a: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放电时刻（时间真值）</a:t>
            </a: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928" y="6144768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这三者构成"图像 ↔ 坐标 ↔ 时间"的完整监督信号，正是深度模型训练的稀缺资源。</a:t>
            </a:r>
            <a:endParaRPr sz="115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1 · 项目概览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四段式生成流水线：从血管到电影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2697480" cy="566928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5544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结构生成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4048" y="2029968"/>
            <a:ext cx="2697480" cy="2697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121408"/>
            <a:ext cx="246888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VolumeCode\</a:t>
            </a:r>
            <a:endParaRPr sz="12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2064" y="2395728"/>
            <a:ext cx="2468880" cy="1329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血管网络 Dijkstra 生长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神经元位置采样 + 高斯过程变形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树突 / 顶树突 / 轴突 / 背景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2064" y="3858768"/>
            <a:ext cx="2468880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simulate_neural_volume.m</a:t>
            </a:r>
            <a:endParaRPr sz="12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2064" y="4370832"/>
            <a:ext cx="2468880" cy="360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~70% 耗时</a:t>
            </a:r>
            <a:endParaRPr sz="14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99816" y="265176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BFB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▶</a:t>
            </a:r>
            <a:endParaRPr sz="1300" b="1">
              <a:solidFill>
                <a:srgbClr val="BFB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73552" y="1463040"/>
            <a:ext cx="269748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5544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光学传播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86430" y="2026920"/>
            <a:ext cx="2898775" cy="3489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121408"/>
            <a:ext cx="246888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OpticsCode\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81350" y="2395855"/>
            <a:ext cx="2899410" cy="312547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lang="zh-CN" altLang="en-US"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第一，真实的玻璃镜片都有畸变，我们引入了 </a:t>
            </a:r>
            <a:r>
              <a:rPr lang="en-US" altLang="zh-CN"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Zernike</a:t>
            </a:r>
            <a:r>
              <a:rPr lang="zh-CN" altLang="en-US"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像差 来模拟这种变形。</a:t>
            </a:r>
            <a:endParaRPr lang="zh-CN" altLang="en-US"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lang="zh-CN" altLang="en-US"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第二，脑组织不是透明的，里面充满了细胞和水分。光穿过去的时候会发生 菲涅耳衍射（也就是散射），越深越模糊。</a:t>
            </a:r>
            <a:endParaRPr lang="zh-CN" altLang="en-US"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lang="zh-CN" altLang="en-US"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第三，脑组织里到处都是血管，血红蛋白是会吸光的。所以我们生成了 血管掩膜（</a:t>
            </a:r>
            <a:r>
              <a:rPr lang="en-US" altLang="zh-CN"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Mask），</a:t>
            </a:r>
            <a:r>
              <a:rPr lang="zh-CN" altLang="en-US"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把血管挡光的效果做进去。</a:t>
            </a:r>
            <a:endParaRPr lang="en-US" altLang="zh-CN"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lang="zh-CN" altLang="en-US"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这三个步骤加在一起，就得到了</a:t>
            </a:r>
            <a:r>
              <a:rPr lang="en-US" altLang="zh-CN"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PSF（</a:t>
            </a:r>
            <a:r>
              <a:rPr lang="zh-CN" altLang="en-US"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点扩散函数）。 它代表了光在穿过这个复杂的脑子后，原本一个清晰的小点，到底变得有多糊、多暗、被血管挡了多少。</a:t>
            </a:r>
            <a:endParaRPr lang="zh-CN" altLang="en-US"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36008" y="1559687"/>
            <a:ext cx="2468880" cy="360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最快</a:t>
            </a:r>
            <a:endParaRPr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89320" y="265176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BFB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▶</a:t>
            </a:r>
            <a:endParaRPr sz="1300" b="1">
              <a:solidFill>
                <a:srgbClr val="BFB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63056" y="1463040"/>
            <a:ext cx="2697480" cy="566928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15544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信号注入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63056" y="2029968"/>
            <a:ext cx="2697480" cy="2697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121408"/>
            <a:ext cx="246888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TimeTraceCode\</a:t>
            </a:r>
            <a:endParaRPr sz="12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91072" y="2395728"/>
            <a:ext cx="2468880" cy="1329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Hawkes 过程生成相关放电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双指数钙动力学卷积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拆成 soma/dend/bg 三类信号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91072" y="3858768"/>
            <a:ext cx="2468880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fun_time_trace_generation.m</a:t>
            </a:r>
            <a:endParaRPr sz="12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91072" y="4370832"/>
            <a:ext cx="2468880" cy="360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中等</a:t>
            </a:r>
            <a:endParaRPr sz="14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78824" y="265176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BFB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▶</a:t>
            </a:r>
            <a:endParaRPr sz="1300" b="1">
              <a:solidFill>
                <a:srgbClr val="BFB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52560" y="1463040"/>
            <a:ext cx="2697480" cy="56692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15544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扫描成像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52560" y="2029968"/>
            <a:ext cx="2697480" cy="2697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2121408"/>
            <a:ext cx="246888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ScanningCode\</a:t>
            </a:r>
            <a:endParaRPr sz="12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80576" y="2395728"/>
            <a:ext cx="2468880" cy="10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逐帧 PSF 卷积扫描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血管搏动调制 + 运动伪影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泊松-高斯相机噪声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80576" y="3858768"/>
            <a:ext cx="2468880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scan_volume_1p.m</a:t>
            </a:r>
            <a:endParaRPr sz="12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80576" y="4370832"/>
            <a:ext cx="2468880" cy="360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~30% 耗时</a:t>
            </a:r>
            <a:endParaRPr sz="14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" y="5623560"/>
            <a:ext cx="11064240" cy="730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关键设计：第 ① 步产物 vol_out.mat（670 MB）是后续所有步骤的唯一依据 —— 保留它就能跳过最慢的结构生成，单独重跑光学/信号/成像。</a:t>
            </a:r>
            <a:endParaRPr sz="16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2 · 数据事实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本次运行的"身份档案"（全部实测，非默认值）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81328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937760"/>
                <a:gridCol w="38404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实测值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证据来源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视野 / 体素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600 × 600 × 150 µm  @ 1 µm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prams.mat → vol_params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神经元数 N_neur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1620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prams.mat → vol_params.N_neur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荧光成分总数 K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5662  =1620 胞体 + 720 树突 + 3322 背景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spikes_opts.mat → K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时间长度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1100 帧 @ 10 Hz，丢弃前 100 帧 → 存 1000 帧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spikes_opts.nt = 11000（100 Hz 粒度）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成像像素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750 × 750 px  @ 0.8 µm/px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600 µm ÷ 0.8 µm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蛋白 / 动力学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GCaMP6 / Ca_DE / smod_flag = other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spikes_opts.mat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放电率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1e-3，自激发 selfact = 1.2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spikes_opts.mat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单次产物体积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5407 MB ≈ 5.3 GB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磁盘实测</a:t>
                      </a:r>
                      <a:endParaRPr sz="11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2 · 数据事实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项产物 = 4 类资产 + 1 类冗余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81328"/>
          <a:ext cx="10424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794760"/>
                <a:gridCol w="3931920"/>
                <a:gridCol w="100584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类别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文件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用途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体积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🟦 体积与参数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vol_out.mat / prams.mat
neur_vol.tiff / neur_ves_all.tiff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完整虚拟大脑对象 + 全部结构参数
神经元与血管 3D 结构栈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774 MB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🟩 光学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PSF_struct.mat / psf.tiff
psf_mask / colmask / psfB / psfT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点扩散函数 + 照明遮挡掩膜
复现光学或重跑扫描所需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8.3 MB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🟨 结果数据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mov_w_bg.tiff </a:t>
                      </a:r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mov_wo_bg.tiff
f0img.tiff / S.mat / spikes.mat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最终钙成像电影（含/不含背景）
基线图 + 荧光时间序列 + 放电真值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2.3 GB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🟥 调试冗余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debug\ + debug_gt\
3 × .fig + 3 × heat.jpg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逐帧存档，与 mov_*.tiff 内容重复
图窗备份 / 快速热图预览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2.2 GB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3 · 数据体检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实测：信号被噪声和背景淹没约 364 倍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img_zoo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903720" cy="34092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8920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◀ 无噪声真值（对比度拉伸）</a:t>
            </a:r>
            <a:endParaRPr sz="10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86200" y="48920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加噪后同区域 ▶（同样拉伸）</a:t>
            </a:r>
            <a:endParaRPr sz="10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26679" y="14813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逐帧实测（帧 1 / 250 / 500 / 750 / 1000）</a:t>
            </a:r>
            <a:endParaRPr sz="11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26679" y="1810512"/>
          <a:ext cx="3886199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0116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加噪帧 mean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2862 → 3250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加噪帧 std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517 → 596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纯信号帧 mean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6.9 → 8.0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纯信号帧 max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140 → 283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背景+噪声</a:t>
                      </a:r>
                      <a:r>
                        <a:rPr lang="en-US"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sz="105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信号</a:t>
                      </a:r>
                      <a:endParaRPr lang="en-US"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B31B1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364 – 451 倍</a:t>
                      </a:r>
                      <a:endParaRPr sz="1050" b="1">
                        <a:solidFill>
                          <a:srgbClr val="B31B1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动态范围占用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8.6%（无饱和）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单帧活动变化 / 噪声</a:t>
                      </a:r>
                      <a:endParaRPr sz="10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B31B1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≈ 7%</a:t>
                      </a:r>
                      <a:endParaRPr sz="1050" b="1">
                        <a:solidFill>
                          <a:srgbClr val="B31B1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68895" y="4294505"/>
            <a:ext cx="4522470" cy="2563495"/>
          </a:xfrm>
          <a:prstGeom prst="roundRect">
            <a:avLst/>
          </a:prstGeom>
          <a:solidFill>
            <a:srgbClr val="FDF2E9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8260" y="4267200"/>
            <a:ext cx="4523105" cy="28638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lang="zh-CN" altLang="en-US"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传统信噪比算出来只有 0.0024，这个小数不够直观。用淹没比的话，大家能直观地看到：噪声比我们想要的信号足足亮了 400 多倍！这更能体现真实生物实验中，环境究竟有多恶劣。</a:t>
            </a:r>
            <a:endParaRPr lang="zh-CN" altLang="en-US"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lang="zh-CN" altLang="en-US"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而且在代码的底层体检报告里，我还计算了‘单帧活动变化/噪声’，只有 7%。这两个指标结合起来，彻底证明了 1</a:t>
            </a:r>
            <a:r>
              <a:rPr lang="en-US" altLang="zh-CN"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lang="zh-CN" altLang="en-US"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宽场数据的物理困境：不仅底盘全是干扰，而且信号跳动得太微弱，肉眼和传统算法绝对没戏，必须依赖下游的 </a:t>
            </a:r>
            <a:r>
              <a:rPr lang="en-US" altLang="zh-CN"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时序模型去硬解。</a:t>
            </a:r>
            <a:endParaRPr lang="zh-CN" altLang="en-US"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3 · 数据体检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物理死结：1p 宽场根本没有"光学切片"能力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63040"/>
          <a:ext cx="67665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146304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这意味着什么</a:t>
            </a:r>
            <a:endParaRPr sz="13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35240" y="1810512"/>
            <a:ext cx="40233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150 µm 厚度内的全部 1620 个细胞，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都会叠加进同一帧图像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横向光斑约 8–18 µm，远宽于衍射极限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没有 z 层选择 → 背景污染无从回避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这解释了 364 倍的信号淹没比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635240" y="4224528"/>
            <a:ext cx="4023360" cy="1737360"/>
          </a:xfrm>
          <a:prstGeom prst="roundRect">
            <a:avLst/>
          </a:prstGeom>
          <a:solidFill>
            <a:srgbClr val="FDF2E9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4334256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连带的代码后果</a:t>
            </a:r>
            <a:endParaRPr sz="115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90688" y="4645152"/>
            <a:ext cx="37033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isolateVisibleSomas.m 依赖 "PSF 半高宽"来筛选可见胞体，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但本 PSF 的 z 剖线没有半高交点 → widthestimate 越界。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该函数与 1p 物理不兼容（当前主流程未调用，未崩）。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7055" y="4916170"/>
            <a:ext cx="6766560" cy="189357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95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有光学切片能力（如双光子 2</a:t>
            </a:r>
            <a:r>
              <a:rPr lang="en-US" altLang="zh-CN" sz="95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lang="zh-CN" altLang="en-US" sz="95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显微镜）：就像你有一把无形的“光刀”，只有焦平面上的那一层细胞会发光，上下层的细胞完全暗掉。拍出来的画面非常干净、锐利。</a:t>
            </a:r>
            <a:endParaRPr lang="zh-CN" altLang="en-US" sz="9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US" altLang="zh-CN" sz="9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95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没有光学切片能力（如单光子 1</a:t>
            </a:r>
            <a:r>
              <a:rPr lang="en-US" altLang="zh-CN" sz="95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lang="zh-CN" altLang="en-US" sz="95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宽场显微镜，即你模拟的）：就像你把整块蛋糕放在强光下。不仅中间那层发光，上面、下面所有层的细胞和血管全都在发光，所有光线重叠在一起，糊成一锅粥。</a:t>
            </a:r>
            <a:endParaRPr lang="zh-CN" altLang="en-US" sz="9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数据来源：psf.tiff（100 层 × 36×36），逐层对全像素求和后归一化 —— 与代码 widthestimate3D.m 的定义一致。</a:t>
            </a:r>
            <a:endParaRPr sz="9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4 · 工程改造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代码适配清单：做了什么，以及没做什么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81328"/>
          <a:ext cx="58521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31720"/>
                <a:gridCol w="1691640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✔ 已完成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377E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377E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做法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377E22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poissrnd → randn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PoissonGaussNoiseModel_camera.m:12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用正态近似泊松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normrnd → randn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PoissonGaussNoiseModel_camera.m:17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 randn 重构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mvnrnd → 基础函数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generateNeuralBody.m:103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避免统计工具箱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树突重复索引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growNeuronDendrites.m:345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unique + accumarray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扫描变量拼写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scan_volume_1p.m:454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y_off / scan_buff 修正</a:t>
                      </a:r>
                      <a:endParaRPr sz="88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535424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仍然存在（需知悉）</a:t>
            </a:r>
            <a:endParaRPr sz="125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864608"/>
          <a:ext cx="585216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2519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C55A1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2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gamrnd 未替换</a:t>
                      </a:r>
                      <a:endParaRPr sz="82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2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genCorrelatedSpikeTrains2.m:78
与 genNextSpikeTimepoint.m:23</a:t>
                      </a:r>
                      <a:endParaRPr sz="82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2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本次未触发</a:t>
                      </a:r>
                      <a:endParaRPr sz="82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2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Hawkes 分支；本次 smod_flag=other 不走该路径</a:t>
                      </a:r>
                      <a:endParaRPr sz="82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2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z-score 仅用于画图</a:t>
                      </a:r>
                      <a:endParaRPr sz="82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2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fun_time_trace_generation.m:457 手工标准化；
存盘的 S.mat 是原始荧光值，不是 z-score</a:t>
                      </a:r>
                      <a:endParaRPr sz="82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148132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为什么"改对了"这件事值得单独讲</a:t>
            </a:r>
            <a:endParaRPr sz="13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8920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8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改造的依据是"跑不通"，不是"看起来旧"</a:t>
            </a:r>
            <a:endParaRPr sz="108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8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• 报错 → 定位到具体缺失函数 → 用等价数学式替换</a:t>
            </a:r>
            <a:endParaRPr sz="108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8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• 替换后做数值一致性验证（分布均值/方差对得上）</a:t>
            </a:r>
            <a:endParaRPr sz="108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8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区分"主路径"与"旁路"</a:t>
            </a:r>
            <a:endParaRPr sz="108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8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• gamrnd 残留只在 Hawkes 分支，本次配置不执行，</a:t>
            </a:r>
            <a:endParaRPr sz="108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8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所以不阻塞交付 —— 但若切换 smod_flag 就会崩</a:t>
            </a:r>
            <a:endParaRPr sz="108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8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严格区分"可视化"与"数据本体"</a:t>
            </a:r>
            <a:endParaRPr sz="108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8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• 图上标 z-scored 属实，但 S.mat 里是原始值；</a:t>
            </a:r>
            <a:endParaRPr sz="108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8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若下游按 z-score 假设处理，会系统性偏差</a:t>
            </a:r>
            <a:endParaRPr sz="108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8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不掩盖：所有未替换项都写进交接文档</a:t>
            </a:r>
            <a:endParaRPr sz="108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4 · 工程改造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为了让配置间可比，先修掉两个源码 bug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37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已修复（直接改在源码，git 可回滚）</a:t>
            </a:r>
            <a:endParaRPr sz="1250" b="1">
              <a:solidFill>
                <a:srgbClr val="377E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5648"/>
          <a:ext cx="5532119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1874519"/>
              </a:tblGrid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77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77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影响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77E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77E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rng('shuffle') 按时间重播种</a:t>
                      </a:r>
                      <a:endParaRPr sz="850" b="1">
                        <a:solidFill>
                          <a:srgbClr val="377E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MiscCode/masked_3DGP_v2.m（2 处）
masked_3DGP_test.m（1 处）</a:t>
                      </a:r>
                      <a:endParaRPr sz="8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每次运行的脑组织/散射介质都不同
→ 配置之间无法对比</a:t>
                      </a:r>
                      <a:endParaRPr sz="8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77E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单点路径 accumarray 崩</a:t>
                      </a:r>
                      <a:endParaRPr sz="850" b="1">
                        <a:solidFill>
                          <a:srgbClr val="377E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VolumeCode/growNeuronDendrites.m:343</a:t>
                      </a:r>
                      <a:endParaRPr sz="8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路径只含 1 个节点时
pathW 长度 2 vs ic 长度 1 → 报错</a:t>
                      </a:r>
                      <a:endParaRPr sz="8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401568"/>
            <a:ext cx="5532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关键：只注释 rng('shuffle') 不够 —— 必须同时删掉配对的 rng(sprev)，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否则随机流被复位，每次调用都抽到同一组随机数（更隐蔽的 bug）。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调参时要注意的"假旋钮"（改了没用）</a:t>
            </a:r>
            <a:endParaRPr sz="125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1755648"/>
          <a:ext cx="5257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520440"/>
              </a:tblGrid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C55A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wdm_params.qe</a:t>
                      </a:r>
                      <a:endParaRPr sz="9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全库无人读取</a:t>
                      </a:r>
                      <a:endParaRPr sz="9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noise_params.sigma</a:t>
                      </a:r>
                      <a:endParaRPr sz="9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噪声模型只用 gamma/offset/sigma_p</a:t>
                      </a:r>
                      <a:endParaRPr sz="9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psf_params.blur</a:t>
                      </a:r>
                      <a:endParaRPr sz="9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全库无人读取</a:t>
                      </a:r>
                      <a:endParaRPr sz="9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spike_opts.smod_flag</a:t>
                      </a:r>
                      <a:endParaRPr sz="9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被 fun_time_trace_generation 硬编码覆盖</a:t>
                      </a:r>
                      <a:endParaRPr sz="9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start_Nt = 100</a:t>
                      </a:r>
                      <a:endParaRPr sz="9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scan_volume_1p:69 硬编码丢弃前 100 帧</a:t>
                      </a:r>
                      <a:endParaRPr sz="9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3977639"/>
            <a:ext cx="5257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踩坑代价：曾把 start_Nt 当成可调帧数，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 50 帧 → 输出 0 帧，白跑一轮。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调参前先确认真旋钮：psf_params.* / noise_params.sigma_p /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vessel_mod.* / exp_level / pixel_size。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5 · 本次实验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目标：把"背景波动"从感觉变成数字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老师给了三个方向。我们的任务不是重做仿真器，而是：改几个参数 → 看影响什么 → 找办法压背景 → 出对比图。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1874519"/>
            <a:ext cx="3611880" cy="502920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9659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光学参数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4048" y="2377440"/>
            <a:ext cx="3611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"物镜的 NA、像素的采样，这些是最后要根据实采系统调整的"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2918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改 NA（0.35→0.5/0.7）与像素（0.8→1.6 µm）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看 PSF 宽度、分辨率、SNR 怎么变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06240" y="1874519"/>
            <a:ext cx="3611880" cy="5029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背景波动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06240" y="2377440"/>
            <a:ext cx="3611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1" y="248716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"现在你们那一版背景波动很大，做 std 投影效果不会太好"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70831" y="2926080"/>
            <a:ext cx="32918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量化指标：bg/sig = 背景区std ÷ 信号区std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五个杠杆：血管搏动 / 散射 / 血红蛋白吸收 / 读出噪声 / 亮度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28431" y="1874519"/>
            <a:ext cx="3611880" cy="50292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9659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帧率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28431" y="2377440"/>
            <a:ext cx="3611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3" y="248716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"帧率不够可能抓不到高频钙瞬变，想对比 10 Hz 和 30 Hz"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3023" y="2926080"/>
            <a:ext cx="32918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等时长设计：10Hz×300帧 == 30Hz×900帧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指标：max ΔF/F 分布（欠采样会削峰）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6928" y="5596128"/>
            <a:ext cx="11064240" cy="777240"/>
          </a:xfrm>
          <a:prstGeom prst="roundRect">
            <a:avLst/>
          </a:prstGeom>
          <a:solidFill>
            <a:srgbClr val="E8F2F2"/>
          </a:solidFill>
          <a:ln w="12700">
            <a:solidFill>
              <a:srgbClr val="1F7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一句话：不是为了"证明仿真对"，而是为了回答"我们这批数据像不像实采、背景能不能压下去、帧率够不够"。</a:t>
            </a:r>
            <a:endParaRPr sz="11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5 · 本次实验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实验设计：一次建体积，多次复用（严格控制变量）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endParaRPr sz="12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755648"/>
            <a:ext cx="5623560" cy="566928"/>
          </a:xfrm>
          <a:prstGeom prst="roundRect">
            <a:avLst/>
          </a:prstGeom>
          <a:solidFill>
            <a:srgbClr val="EAF0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参考运行（原版代码跑通的那次）</a:t>
            </a:r>
            <a:endParaRPr sz="9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vol_out.mat + S.mat + prams.mat</a:t>
            </a:r>
            <a:endParaRPr sz="9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3246120" y="2359152"/>
            <a:ext cx="256032" cy="274320"/>
          </a:xfrm>
          <a:prstGeom prst="down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688336"/>
            <a:ext cx="132588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7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光学</a:t>
            </a:r>
            <a:endParaRPr sz="8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 / 像素采样</a:t>
            </a:r>
            <a:endParaRPr sz="8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65960" y="2688336"/>
            <a:ext cx="132588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7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</a:t>
            </a:r>
            <a:endParaRPr sz="8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sigma_p</a:t>
            </a:r>
            <a:endParaRPr sz="8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64992" y="2688336"/>
            <a:ext cx="132588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7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血管</a:t>
            </a:r>
            <a:endParaRPr sz="8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搏动幅度</a:t>
            </a:r>
            <a:endParaRPr sz="8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64024" y="2688336"/>
            <a:ext cx="132588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7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散射/吸收</a:t>
            </a:r>
            <a:endParaRPr sz="8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scatter_wt / hemoabs</a:t>
            </a:r>
            <a:endParaRPr sz="8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3246120" y="3401568"/>
            <a:ext cx="256032" cy="256032"/>
          </a:xfrm>
          <a:prstGeom prst="down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712463"/>
            <a:ext cx="5623560" cy="530352"/>
          </a:xfrm>
          <a:prstGeom prst="roundRect">
            <a:avLst/>
          </a:prstGeom>
          <a:solidFill>
            <a:srgbClr val="FDF2E9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只重跑：光学传播 + 扫描成像</a:t>
            </a:r>
            <a:endParaRPr sz="9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（每配置约 10 分钟）</a:t>
            </a:r>
            <a:endParaRPr sz="9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3246120" y="4279392"/>
            <a:ext cx="256032" cy="256032"/>
          </a:xfrm>
          <a:prstGeom prst="down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590288"/>
            <a:ext cx="5623560" cy="530352"/>
          </a:xfrm>
          <a:prstGeom prst="roundRect">
            <a:avLst/>
          </a:prstGeom>
          <a:solidFill>
            <a:srgbClr val="F3ECF9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 std 投影 + 6 项指标</a:t>
            </a:r>
            <a:endParaRPr sz="9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（bg/sig、PSF FWHM、maxΔF/F …）</a:t>
            </a:r>
            <a:endParaRPr sz="9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3246120" y="5157216"/>
            <a:ext cx="256032" cy="256032"/>
          </a:xfrm>
          <a:prstGeom prst="down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5468112"/>
            <a:ext cx="5623560" cy="502920"/>
          </a:xfrm>
          <a:prstGeom prst="roundRect">
            <a:avLst/>
          </a:prstGeom>
          <a:solidFill>
            <a:srgbClr val="ECF5E9"/>
          </a:solidFill>
          <a:ln w="15875">
            <a:solidFill>
              <a:srgbClr val="37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37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统一色标 → 对比图 / 差异图 / 汇总表</a:t>
            </a:r>
            <a:endParaRPr sz="900" b="1">
              <a:solidFill>
                <a:srgbClr val="377E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13898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为什么这样设计</a:t>
            </a:r>
            <a:endParaRPr sz="12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1737360"/>
            <a:ext cx="5212080" cy="1799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每个配置只改一个参数，其余全部固定</a:t>
            </a: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复用同一份 vol_out.mat → 血管、神经元位置、</a:t>
            </a: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组织形态完全相同，差异 100% 来自被改的那个参数</a:t>
            </a: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复用同一份 S.mat（活动时序）→ 内容也相同</a:t>
            </a: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300"/>
              </a:spcAft>
            </a:p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endParaRPr sz="10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46520" y="4892040"/>
            <a:ext cx="5212080" cy="1097280"/>
          </a:xfrm>
          <a:prstGeom prst="roundRect">
            <a:avLst/>
          </a:prstGeom>
          <a:solidFill>
            <a:srgbClr val="FDF2E9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498348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帧率实验是例外：必须用 rng(1) 重新生成 S.mat，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且保持"等时长"（10Hz×300帧 == 30Hz×900帧），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这样两边的脉冲序列完全一致，只差采样率。</a:t>
            </a:r>
            <a:endParaRPr sz="9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5 · 本次实验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参数矩阵：13 个配置，每个只动一个东西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389888"/>
          <a:ext cx="11064240" cy="486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914400"/>
                <a:gridCol w="2788920"/>
                <a:gridCol w="1691640"/>
                <a:gridCol w="1051560"/>
                <a:gridCol w="4233672"/>
              </a:tblGrid>
              <a:tr h="32461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改的参数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 → 新值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所属环节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想验证什么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A_base</a:t>
                      </a:r>
                      <a:endParaRPr sz="8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参考运行（原版代码）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NA0.5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psf_params.NA / objNA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0.35 → 0.50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光学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光斑变窄，细胞是否更可分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NA0.7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psf_params.NA / objNA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0.35 → 0.70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光学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同上，看趋势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px1.6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pixel_size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 → 1.6 µm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光学/采样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像素数 1/4 的代价（SNR↑ 分辨↓）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sig100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noise_params.sigma_p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 → 100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传感器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读出噪声减半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sig50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noise_params.sigma_p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 → 50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传感器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极限压低，看神经元是否凸显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vd2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vessel_mod.max_dilate_amp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→ 2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血管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搏动调制减弱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vd0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vessel_mod.flag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true → false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血管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完全关闭搏动（上限对照）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scat0.5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psf_params.scatter_wt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×0.5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散射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弥漫背景是否减半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scat2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psf_params.scatter_wt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×2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散射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反向对照（应更差）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hemo0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psf_params.hemoabs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×0（归零）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吸收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血管黑阴影是否消失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combo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搏动2+sigma100+散射0.5+exp15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组合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全部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最好能做到什么程度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fr10r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frate（重生成S）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Hz，300 帧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帧率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等时长基线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fr30r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frate（重生成S）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 Hz，900 帧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帧率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是否抓到被欠采样削掉的峰</a:t>
                      </a:r>
                      <a:endParaRPr sz="8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5 · 本次实验</a:t>
            </a:r>
            <a:endParaRPr sz="115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判读标准：6 个指标，各自回答一个问题</a:t>
            </a:r>
            <a:endParaRPr sz="2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00" b="0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1732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206240"/>
                <a:gridCol w="11430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方向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回答什么问题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bg/sig</a:t>
                      </a:r>
                      <a:endParaRPr sz="95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背景区时间 std 中位数 ÷ 信号区时间 std 中位数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越小越好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背景波动有多强（老师最关心）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std 对比度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std 图的 99 分位 ÷ 中位数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越大越好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信号在 std 投影里够不够突出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PSF 横向 FWHM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最亮层过峰值行/列的半高全宽（µm）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反映分辨率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 / 采样改动的直接后果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maxΔF/F p90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每个细胞最大活动的 90 分位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越大越好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帧率是否把峰削掉了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动态范围占用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max 像素值 ÷ 65535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20–60%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提亮后有没有逼近上限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饱和像素比例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≥65000 的像素占比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 0.1%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有没有 16-bit 硬截断</a:t>
                      </a:r>
                      <a:endParaRPr sz="95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315968"/>
            <a:ext cx="5440680" cy="1600200"/>
          </a:xfrm>
          <a:prstGeom prst="roundRect">
            <a:avLst/>
          </a:prstGeom>
          <a:solidFill>
            <a:srgbClr val="E8F2F2"/>
          </a:solidFill>
          <a:ln w="15875">
            <a:solidFill>
              <a:srgbClr val="1F7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40740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1F7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bg/sig 怎么算（不需要分割）</a:t>
            </a:r>
            <a:endParaRPr sz="1100" b="1">
              <a:solidFill>
                <a:srgbClr val="1F7A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470916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信号区 = 「无背景电影」的时间最大值前 10% 像素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背景区 = 其余像素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两边各取时间 std 的中位数相除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55080" y="4315968"/>
            <a:ext cx="5257800" cy="1600200"/>
          </a:xfrm>
          <a:prstGeom prst="roundRect">
            <a:avLst/>
          </a:prstGeom>
          <a:solidFill>
            <a:srgbClr val="FDF2E9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4407408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为什么用时间 std，而不是亮度</a:t>
            </a:r>
            <a:endParaRPr sz="11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0528" y="470916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背景很亮但不动 → 不影响 std 投影；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背景亮度不变但一直波动 → std 图里到处是"像神经元的东西"。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老师说的"背景波动"指的是后者。</a:t>
            </a:r>
            <a:endParaRPr sz="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/>
                <a:ea typeface="微软雅黑"/>
                <a:cs typeface="微软雅黑"/>
              </a:rPr>
              <a:t>PART 6 · 结果 · 光学参数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结果①：NA 几乎不动 PSF —— 因为它是散射主导的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17320"/>
          <a:ext cx="6675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40080"/>
                <a:gridCol w="914400"/>
                <a:gridCol w="1417320"/>
                <a:gridCol w="777240"/>
                <a:gridCol w="1691640"/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像素(µm)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PSF 横向FWHM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vs 基线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单次光学耗时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A_base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13.79 µm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（参考运行）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NA0.5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0.50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14.20 µm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B3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+3%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 h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NA0.7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13.35 µm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B3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−3%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10.6 h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px1.6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0.35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13.49 µm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−2%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0（复用缓存）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scat0.5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14.71 µm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B3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+7%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 h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scat2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0.35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18.52 µm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B3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+34%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h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417320"/>
            <a:ext cx="4178808" cy="2148840"/>
          </a:xfrm>
          <a:prstGeom prst="roundRect">
            <a:avLst/>
          </a:prstGeom>
          <a:solidFill>
            <a:srgbClr val="FDF2E9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53619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核心结论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847088"/>
            <a:ext cx="3840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NA 从 0.35 提到 0.70（衍射极限直接减半），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实测 PSF 只从 13.79 变到 13.35 µm（−3%）。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而散射 ×2 就把它拉到 18.52 µm（+34%）。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675887"/>
            <a:ext cx="4178808" cy="1828800"/>
          </a:xfrm>
          <a:prstGeom prst="roundRect">
            <a:avLst/>
          </a:prstGeom>
          <a:solidFill>
            <a:srgbClr val="E8F2F2"/>
          </a:solidFill>
          <a:ln w="15875">
            <a:solidFill>
              <a:srgbClr val="1F7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947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/>
                <a:ea typeface="微软雅黑"/>
                <a:cs typeface="微软雅黑"/>
              </a:rPr>
              <a:t>为什么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105656"/>
            <a:ext cx="3840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衍射极限下 NA0.35 的光斑约 0.7 µm，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而实测 13.8 µm —— 差 20 倍。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说明当前 PSF 完全由组织散射撑开，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衍射项在噪声里，改 NA 没有意义。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60520"/>
            <a:ext cx="6675120" cy="1371600"/>
          </a:xfrm>
          <a:prstGeom prst="roundRect">
            <a:avLst/>
          </a:prstGeom>
          <a:solidFill>
            <a:srgbClr val="F3ECF9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79392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7030A0"/>
                </a:solidFill>
                <a:latin typeface="微软雅黑"/>
                <a:ea typeface="微软雅黑"/>
                <a:cs typeface="微软雅黑"/>
              </a:rPr>
              <a:t>代价账（同一次实验内的实测）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90288"/>
            <a:ext cx="6309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复用缓存：0 秒      改噪声/搏动/像素：6–19 分钟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改散射或 NA：3.2–10.6 小时（NA0.7 因为传播网格变大，最慢）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/>
                <a:ea typeface="微软雅黑"/>
                <a:cs typeface="微软雅黑"/>
              </a:rPr>
              <a:t>PART 6 · 结果 · 背景波动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结果②：13 张 std 投影，同一色标排开看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pic>
        <p:nvPicPr>
          <p:cNvPr id="6" name="Picture 5" descr="stdproj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53312"/>
            <a:ext cx="9052560" cy="4829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237789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统一色标 0–3084，各 200 帧：所以"面板变暗"是真的变暗，不是各自拉伸的假象。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combo（右下）神经元已从背景中分离出来；scat2（下中）整片弥漫背景吞掉了细节。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02368" y="1353312"/>
            <a:ext cx="1810512" cy="46634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12096" y="1481328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读数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2096" y="1783080"/>
            <a:ext cx="1600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bg/sig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越小越干净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combo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0.40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scat0.5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0.59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A_base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0.63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scat2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0.85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/>
                <a:ea typeface="微软雅黑"/>
                <a:cs typeface="微软雅黑"/>
              </a:rPr>
              <a:t>PART 6 · 结果 · 背景波动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结果②b：归因 —— 散射单调决定，噪声完全无效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389888"/>
          <a:ext cx="5806440" cy="4219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331720"/>
                <a:gridCol w="914400"/>
                <a:gridCol w="1600200"/>
              </a:tblGrid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改了什么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bg/sig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vs 重跑基线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77E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combo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 5→15 +搏动2 +σ100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0.398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77E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−44%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77E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scat0.5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散射强度 ×0.5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0.593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77E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−16%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A_base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参考运行（不同基准）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0.625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 见注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55A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hemo0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血红蛋白吸收归零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0.688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−3%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vd2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血管搏动 10→2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0.0%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px1.6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像素 0.8→1.6 µm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0.708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0.0%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sig100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σ_p 200→100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0.709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0.0%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sig50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σ_p 200→50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0.709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0.0%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55A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NA0.5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 → 0.50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0.722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+1.9%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55A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NA0.7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 → 0.70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0.754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+6.5%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55A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vd0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关闭血管调制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0.811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+14.4%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55A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scat2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散射强度 ×2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0.848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+19.7%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742432"/>
            <a:ext cx="5806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注：A_base 是原版参考运行（1000 帧、rng shuffle），与其余 11 个配置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（200 帧、rng(1)）基准不同，不可直接比；真实的"无改动基线"是 0.709 平台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—— 由 sig100/sig50/px1.6/vd2 四个"应无影响"的配置交叉确认。</a:t>
            </a:r>
          </a:p>
        </p:txBody>
      </p:sp>
      <p:pic>
        <p:nvPicPr>
          <p:cNvPr id="8" name="Picture 7" descr="frame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389888"/>
            <a:ext cx="3805279" cy="41147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5577840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单帧视觉对比（各图自身 0.5–99.8 分位拉伸，中央 352×352 裁剪）：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combo 里神经元颗粒清晰、背景平滑；scat2 里噪声与弥漫背景吞掉细节。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/>
                <a:ea typeface="微软雅黑"/>
                <a:cs typeface="微软雅黑"/>
              </a:rPr>
              <a:t>PART 6 · 结果 · 帧率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结果③：帧率 10 vs 30 Hz —— 本轮未跑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11064240" cy="10515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状态：未执行（本轮只跑了 optics + noise 两组）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两组都要用 rng(1) 重新生成 S.mat，并保证等时长：10 Hz×300 帧 == 30 Hz×900 帧（100 Hz 粒度步数同为 3000），这样脉冲序列完全一致，差异只来自采样率。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69748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55448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Hz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Hz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差异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保留帧数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4×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时长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s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s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相同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 Hz 粒度步数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相同（脉冲序列一致）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maxΔF/F p50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__ 待填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__ 待填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maxΔF/F p90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__ 待填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__ 待填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扫描耗时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__ 待填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__ 待填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52360" y="2697480"/>
            <a:ext cx="4178808" cy="2560320"/>
          </a:xfrm>
          <a:prstGeom prst="roundRect">
            <a:avLst/>
          </a:prstGeom>
          <a:solidFill>
            <a:srgbClr val="E8F2F2"/>
          </a:solidFill>
          <a:ln w="15875">
            <a:solidFill>
              <a:srgbClr val="1F7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81635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1F7A7D"/>
                </a:solidFill>
                <a:latin typeface="微软雅黑"/>
                <a:ea typeface="微软雅黑"/>
                <a:cs typeface="微软雅黑"/>
              </a:rPr>
              <a:t>这一组要回答的问题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127248"/>
            <a:ext cx="3840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实采系统的帧率如果不够，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高频钙瞬变会被"欠采样"削掉峰值。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判读指标：max ΔF/F 的分布。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若 10 Hz 明显低于 30 Hz，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说明现在的 10 Hz 协议已经丢失了峰值。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跑法：NAOMi1p_stdproj_experiments('group','fps')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F7A7D"/>
                </a:solidFill>
                <a:latin typeface="微软雅黑"/>
                <a:ea typeface="微软雅黑"/>
                <a:cs typeface="微软雅黑"/>
              </a:rPr>
              <a:t>PART 7 ·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结论：背景波动不是"噪声问题"，是"散射+亮度问题"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32004"/>
          </a:xfrm>
          <a:prstGeom prst="rect">
            <a:avLst/>
          </a:prstGeom>
          <a:solidFill>
            <a:srgbClr val="1F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F2F2F2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1F7A7D"/>
                </a:solidFill>
                <a:latin typeface="微软雅黑"/>
                <a:ea typeface="微软雅黑"/>
                <a:cs typeface="微软雅黑"/>
              </a:rPr>
              <a:t>已经能下的结论（全部有实测支撑）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5532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  散射是背景波动的主导因素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  ×0.5 → 0.593，×1 → 0.709，×2 → 0.848（单调）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  读出噪声不是主因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  σ_p 200→50，bg/sig 完全不变（0.709 → 0.709）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  → 背景 std 由荧光涨落与散射光主导，不是硬件底噪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  血管搏动也不是主因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  10→2 只让 bg/sig 动 0.2%；而关掉血管反而更差（0.811）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  → 血管遮挡在挡光，去掉它背景更亮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  NA 买不到清晰度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  NA 0.35→0.70，PSF 只从 13.79 到 13.35 µm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  → PSF 由散射撑开（13.8 µm vs 衍射极限 0.7 µm）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89888"/>
            <a:ext cx="5257800" cy="3017520"/>
          </a:xfrm>
          <a:prstGeom prst="roundRect">
            <a:avLst/>
          </a:prstGeom>
          <a:solidFill>
            <a:srgbClr val="FDF2E9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4937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最有效的做法：提亮信号，而不是压背景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9377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combo（exp 5→15 + 搏动2 + σ100）把 bg/sig 从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0.709 压到 0.398（−44%），std 对比度 2.26→3.44，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神经元在 std 投影里变成一颗颗独立的亮点。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注意：搏动与噪声两项单独测下来都是空转，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所以 combo 的收益几乎全部来自 exp_level 5→15。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这一点还需要一个"只改 exp_level"的配置来最终确认。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3892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5468112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4663440"/>
                <a:gridCol w="5440680"/>
              </a:tblGrid>
              <a:tr h="21945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优先级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</a:t>
                      </a:r>
                    </a:p>
                  </a:txBody>
                  <a:tcPr marL="54864" marR="36576" marT="9144" marB="9144" anchor="ctr">
                    <a:solidFill>
                      <a:srgbClr val="1F386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补一个 exp15 单因素配置（约 2 分钟，复用缓存）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 combo 的收益来源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跑帧率 10 vs 30 Hz（约 1 小时）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回答老师的第三个问题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按实采系统重设 NA / 像素 / 帧率后再跑一次基线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当前参数未必等于真实显微镜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P3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若散射是主因，与实测散射系数对齐 scatter_wt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而不是继续往下压</a:t>
                      </a:r>
                    </a:p>
                  </a:txBody>
                  <a:tcPr marL="54864" marR="36576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8209</Words>
  <Application>WPS 演示</Application>
  <PresentationFormat>On-screen Show (4:3)</PresentationFormat>
  <Paragraphs>924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2023214974</cp:lastModifiedBy>
  <cp:revision>7</cp:revision>
  <dcterms:created xsi:type="dcterms:W3CDTF">2013-01-27T09:14:00Z</dcterms:created>
  <dcterms:modified xsi:type="dcterms:W3CDTF">2026-10-19T01:24:12Z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722456E662B24AE3B2C9D6E1AD35E6C1_13</vt:lpwstr>
  </property>
  <property fmtid="{D5CDD505-2E9C-101B-9397-08002B2CF9AE}" pid="3" name="KSOProductBuildVer">
    <vt:lpwstr>2052-12.1.0.26373</vt:lpwstr>
  </property>
</Properties>
</file>